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slide presents the reusable Generic Sidebar architecture.
The required runtime path moves from a model-driven form through Generic_OpenSidebar and Xrm.App.sidePanes into the shared runtime. The runtime reads the default sidebar_genericsidebar row and active linked-agent rows, applies routing policy, and renders the configured experience.
Orange dashed lines represent runtime configuration reads. Purple dashed lines represent optional adapters, including Entra ID, Copilot Studio, web or phone sidecars, Azure Functions, and Azure Communication Services.
The reuse contract is to keep the launcher and runtime stable while changing experiences through governed Dataverse configuration and narrowly scoped adapters.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28600"/>
            <a:ext cx="2926080" cy="329184"/>
          </a:xfrm>
          <a:prstGeom prst="rect">
            <a:avLst/>
          </a:prstGeom>
          <a:noFill/>
          <a:ln/>
        </p:spPr>
        <p:txBody>
          <a:bodyPr wrap="square" lIns="0" tIns="0" rIns="0" bIns="0" rtlCol="0" anchor="ctr">
            <a:normAutofit/>
          </a:bodyPr>
          <a:lstStyle/>
          <a:p>
            <a:pPr indent="0" marL="0">
              <a:buNone/>
            </a:pPr>
            <a:r>
              <a:rPr lang="en-US" sz="2400" b="1" dirty="0">
                <a:solidFill>
                  <a:srgbClr val="1E1E1E"/>
                </a:solidFill>
                <a:latin typeface="Segoe UI" pitchFamily="34" charset="0"/>
                <a:ea typeface="Segoe UI" pitchFamily="34" charset="-122"/>
                <a:cs typeface="Segoe UI" pitchFamily="34" charset="-120"/>
              </a:rPr>
              <a:t>Generic Sidebar</a:t>
            </a:r>
            <a:endParaRPr lang="en-US" sz="2400" dirty="0"/>
          </a:p>
        </p:txBody>
      </p:sp>
      <p:sp>
        <p:nvSpPr>
          <p:cNvPr id="3" name="Text 1"/>
          <p:cNvSpPr/>
          <p:nvPr/>
        </p:nvSpPr>
        <p:spPr>
          <a:xfrm>
            <a:off x="2862072" y="265176"/>
            <a:ext cx="4572000" cy="274320"/>
          </a:xfrm>
          <a:prstGeom prst="rect">
            <a:avLst/>
          </a:prstGeom>
          <a:noFill/>
          <a:ln/>
        </p:spPr>
        <p:txBody>
          <a:bodyPr wrap="square" lIns="0" tIns="0" rIns="0" bIns="0" rtlCol="0" anchor="ctr">
            <a:normAutofit/>
          </a:bodyPr>
          <a:lstStyle/>
          <a:p>
            <a:pPr indent="0" marL="0">
              <a:buNone/>
            </a:pPr>
            <a:r>
              <a:rPr lang="en-US" sz="1800" dirty="0">
                <a:solidFill>
                  <a:srgbClr val="605E5C"/>
                </a:solidFill>
                <a:latin typeface="Segoe UI" pitchFamily="34" charset="0"/>
                <a:ea typeface="Segoe UI" pitchFamily="34" charset="-122"/>
                <a:cs typeface="Segoe UI" pitchFamily="34" charset="-120"/>
              </a:rPr>
              <a:t>Reusable Reference Architecture</a:t>
            </a:r>
            <a:endParaRPr lang="en-US" sz="1800" dirty="0"/>
          </a:p>
        </p:txBody>
      </p:sp>
      <p:sp>
        <p:nvSpPr>
          <p:cNvPr id="4" name="Text 2"/>
          <p:cNvSpPr/>
          <p:nvPr/>
        </p:nvSpPr>
        <p:spPr>
          <a:xfrm>
            <a:off x="457200" y="603504"/>
            <a:ext cx="7498080" cy="210312"/>
          </a:xfrm>
          <a:prstGeom prst="rect">
            <a:avLst/>
          </a:prstGeom>
          <a:noFill/>
          <a:ln/>
        </p:spPr>
        <p:txBody>
          <a:bodyPr wrap="square" lIns="0" tIns="0" rIns="0" bIns="0" rtlCol="0" anchor="ctr">
            <a:normAutofit/>
          </a:bodyPr>
          <a:lstStyle/>
          <a:p>
            <a:pPr indent="0" marL="0">
              <a:buNone/>
            </a:pPr>
            <a:r>
              <a:rPr lang="en-US" sz="1050" dirty="0">
                <a:solidFill>
                  <a:srgbClr val="605E5C"/>
                </a:solidFill>
                <a:latin typeface="Segoe UI" pitchFamily="34" charset="0"/>
                <a:ea typeface="Segoe UI" pitchFamily="34" charset="-122"/>
                <a:cs typeface="Segoe UI" pitchFamily="34" charset="-120"/>
              </a:rPr>
              <a:t>Configuration-driven side panes for Dynamics 365 and model-driven apps</a:t>
            </a:r>
            <a:endParaRPr lang="en-US" sz="1050" dirty="0"/>
          </a:p>
        </p:txBody>
      </p:sp>
      <p:sp>
        <p:nvSpPr>
          <p:cNvPr id="5" name="Shape 3"/>
          <p:cNvSpPr/>
          <p:nvPr/>
        </p:nvSpPr>
        <p:spPr>
          <a:xfrm>
            <a:off x="457200" y="896112"/>
            <a:ext cx="11274552" cy="384048"/>
          </a:xfrm>
          <a:prstGeom prst="roundRect">
            <a:avLst>
              <a:gd name="adj" fmla="val 9524"/>
            </a:avLst>
          </a:prstGeom>
          <a:solidFill>
            <a:srgbClr val="CFE4FA"/>
          </a:solidFill>
          <a:ln w="15240">
            <a:solidFill>
              <a:srgbClr val="0078D4"/>
            </a:solidFill>
            <a:prstDash val="solid"/>
          </a:ln>
        </p:spPr>
      </p:sp>
      <p:sp>
        <p:nvSpPr>
          <p:cNvPr id="6" name="Text 4"/>
          <p:cNvSpPr/>
          <p:nvPr/>
        </p:nvSpPr>
        <p:spPr>
          <a:xfrm>
            <a:off x="658368" y="1010412"/>
            <a:ext cx="1005840" cy="146304"/>
          </a:xfrm>
          <a:prstGeom prst="rect">
            <a:avLst/>
          </a:prstGeom>
          <a:noFill/>
          <a:ln/>
        </p:spPr>
        <p:txBody>
          <a:bodyPr wrap="square" lIns="0" tIns="0" rIns="0" bIns="0" rtlCol="0" anchor="ctr">
            <a:normAutofit/>
          </a:bodyPr>
          <a:lstStyle/>
          <a:p>
            <a:pPr indent="0" marL="0">
              <a:buNone/>
            </a:pPr>
            <a:r>
              <a:rPr lang="en-US" sz="940" b="1" dirty="0">
                <a:solidFill>
                  <a:srgbClr val="0078D4"/>
                </a:solidFill>
                <a:latin typeface="Segoe UI" pitchFamily="34" charset="0"/>
                <a:ea typeface="Segoe UI" pitchFamily="34" charset="-122"/>
                <a:cs typeface="Segoe UI" pitchFamily="34" charset="-120"/>
              </a:rPr>
              <a:t>REUSE CONTRACT</a:t>
            </a:r>
            <a:endParaRPr lang="en-US" sz="940" dirty="0"/>
          </a:p>
        </p:txBody>
      </p:sp>
      <p:sp>
        <p:nvSpPr>
          <p:cNvPr id="7" name="Text 5"/>
          <p:cNvSpPr/>
          <p:nvPr/>
        </p:nvSpPr>
        <p:spPr>
          <a:xfrm>
            <a:off x="1664208" y="978408"/>
            <a:ext cx="9784080" cy="201168"/>
          </a:xfrm>
          <a:prstGeom prst="rect">
            <a:avLst/>
          </a:prstGeom>
          <a:noFill/>
          <a:ln/>
        </p:spPr>
        <p:txBody>
          <a:bodyPr wrap="square" lIns="0" tIns="0" rIns="0" bIns="0" rtlCol="0" anchor="ctr">
            <a:normAutofit/>
          </a:bodyPr>
          <a:lstStyle/>
          <a:p>
            <a:pPr algn="ctr" indent="0" marL="0">
              <a:buNone/>
            </a:pPr>
            <a:r>
              <a:rPr lang="en-US" sz="1040" b="1" dirty="0">
                <a:solidFill>
                  <a:srgbClr val="1E1E1E"/>
                </a:solidFill>
                <a:latin typeface="Segoe UI" pitchFamily="34" charset="0"/>
                <a:ea typeface="Segoe UI" pitchFamily="34" charset="-122"/>
                <a:cs typeface="Segoe UI" pitchFamily="34" charset="-120"/>
              </a:rPr>
              <a:t>Stable host launcher  +  table-driven configuration  +  pluggable experiences  +  optional identity/service adapters</a:t>
            </a:r>
            <a:endParaRPr lang="en-US" sz="1040" dirty="0"/>
          </a:p>
        </p:txBody>
      </p:sp>
      <p:sp>
        <p:nvSpPr>
          <p:cNvPr id="8" name="Shape 6"/>
          <p:cNvSpPr/>
          <p:nvPr/>
        </p:nvSpPr>
        <p:spPr>
          <a:xfrm>
            <a:off x="1627632" y="1481328"/>
            <a:ext cx="2697480" cy="4315968"/>
          </a:xfrm>
          <a:prstGeom prst="roundRect">
            <a:avLst>
              <a:gd name="adj" fmla="val 1695"/>
            </a:avLst>
          </a:prstGeom>
          <a:solidFill>
            <a:srgbClr val="FFFFFF">
              <a:alpha val="0"/>
            </a:srgbClr>
          </a:solidFill>
          <a:ln w="20320">
            <a:solidFill>
              <a:srgbClr val="0078D4"/>
            </a:solidFill>
            <a:prstDash val="solid"/>
          </a:ln>
        </p:spPr>
      </p:sp>
      <p:sp>
        <p:nvSpPr>
          <p:cNvPr id="9" name="Text 7"/>
          <p:cNvSpPr/>
          <p:nvPr/>
        </p:nvSpPr>
        <p:spPr>
          <a:xfrm>
            <a:off x="1810512" y="1591056"/>
            <a:ext cx="2331720" cy="228600"/>
          </a:xfrm>
          <a:prstGeom prst="rect">
            <a:avLst/>
          </a:prstGeom>
          <a:noFill/>
          <a:ln/>
        </p:spPr>
        <p:txBody>
          <a:bodyPr wrap="square" lIns="0" tIns="0" rIns="0" bIns="0" rtlCol="0" anchor="ctr">
            <a:normAutofit/>
          </a:bodyPr>
          <a:lstStyle/>
          <a:p>
            <a:pPr indent="0" marL="0">
              <a:buNone/>
            </a:pPr>
            <a:r>
              <a:rPr lang="en-US" sz="1220" b="1" dirty="0">
                <a:solidFill>
                  <a:srgbClr val="1E1E1E"/>
                </a:solidFill>
                <a:latin typeface="Segoe UI" pitchFamily="34" charset="0"/>
                <a:ea typeface="Segoe UI" pitchFamily="34" charset="-122"/>
                <a:cs typeface="Segoe UI" pitchFamily="34" charset="-120"/>
              </a:rPr>
              <a:t>1  HOST APPLICATION</a:t>
            </a:r>
            <a:endParaRPr lang="en-US" sz="1220" dirty="0"/>
          </a:p>
        </p:txBody>
      </p:sp>
      <p:sp>
        <p:nvSpPr>
          <p:cNvPr id="10" name="Shape 8"/>
          <p:cNvSpPr/>
          <p:nvPr/>
        </p:nvSpPr>
        <p:spPr>
          <a:xfrm>
            <a:off x="4617720" y="1481328"/>
            <a:ext cx="3337560" cy="4315968"/>
          </a:xfrm>
          <a:prstGeom prst="roundRect">
            <a:avLst>
              <a:gd name="adj" fmla="val 1370"/>
            </a:avLst>
          </a:prstGeom>
          <a:solidFill>
            <a:srgbClr val="FFFFFF">
              <a:alpha val="0"/>
            </a:srgbClr>
          </a:solidFill>
          <a:ln w="20320">
            <a:solidFill>
              <a:srgbClr val="107C10"/>
            </a:solidFill>
            <a:prstDash val="solid"/>
          </a:ln>
        </p:spPr>
      </p:sp>
      <p:sp>
        <p:nvSpPr>
          <p:cNvPr id="11" name="Text 9"/>
          <p:cNvSpPr/>
          <p:nvPr/>
        </p:nvSpPr>
        <p:spPr>
          <a:xfrm>
            <a:off x="4800600" y="1591056"/>
            <a:ext cx="2971800" cy="228600"/>
          </a:xfrm>
          <a:prstGeom prst="rect">
            <a:avLst/>
          </a:prstGeom>
          <a:noFill/>
          <a:ln/>
        </p:spPr>
        <p:txBody>
          <a:bodyPr wrap="square" lIns="0" tIns="0" rIns="0" bIns="0" rtlCol="0" anchor="ctr">
            <a:normAutofit/>
          </a:bodyPr>
          <a:lstStyle/>
          <a:p>
            <a:pPr indent="0" marL="0">
              <a:buNone/>
            </a:pPr>
            <a:r>
              <a:rPr lang="en-US" sz="1220" b="1" dirty="0">
                <a:solidFill>
                  <a:srgbClr val="1E1E1E"/>
                </a:solidFill>
                <a:latin typeface="Segoe UI" pitchFamily="34" charset="0"/>
                <a:ea typeface="Segoe UI" pitchFamily="34" charset="-122"/>
                <a:cs typeface="Segoe UI" pitchFamily="34" charset="-120"/>
              </a:rPr>
              <a:t>2  GENERIC SIDEBAR RUNTIME</a:t>
            </a:r>
            <a:endParaRPr lang="en-US" sz="1220" dirty="0"/>
          </a:p>
        </p:txBody>
      </p:sp>
      <p:sp>
        <p:nvSpPr>
          <p:cNvPr id="12" name="Shape 10"/>
          <p:cNvSpPr/>
          <p:nvPr/>
        </p:nvSpPr>
        <p:spPr>
          <a:xfrm>
            <a:off x="8247888" y="1481328"/>
            <a:ext cx="3474720" cy="2267712"/>
          </a:xfrm>
          <a:prstGeom prst="roundRect">
            <a:avLst>
              <a:gd name="adj" fmla="val 2016"/>
            </a:avLst>
          </a:prstGeom>
          <a:solidFill>
            <a:srgbClr val="FFFFFF">
              <a:alpha val="0"/>
            </a:srgbClr>
          </a:solidFill>
          <a:ln w="20320">
            <a:solidFill>
              <a:srgbClr val="F7630C"/>
            </a:solidFill>
            <a:prstDash val="solid"/>
          </a:ln>
        </p:spPr>
      </p:sp>
      <p:sp>
        <p:nvSpPr>
          <p:cNvPr id="13" name="Text 11"/>
          <p:cNvSpPr/>
          <p:nvPr/>
        </p:nvSpPr>
        <p:spPr>
          <a:xfrm>
            <a:off x="8430768" y="1591056"/>
            <a:ext cx="3108960" cy="228600"/>
          </a:xfrm>
          <a:prstGeom prst="rect">
            <a:avLst/>
          </a:prstGeom>
          <a:noFill/>
          <a:ln/>
        </p:spPr>
        <p:txBody>
          <a:bodyPr wrap="square" lIns="0" tIns="0" rIns="0" bIns="0" rtlCol="0" anchor="ctr">
            <a:normAutofit/>
          </a:bodyPr>
          <a:lstStyle/>
          <a:p>
            <a:pPr indent="0" marL="0">
              <a:buNone/>
            </a:pPr>
            <a:r>
              <a:rPr lang="en-US" sz="1220" b="1" dirty="0">
                <a:solidFill>
                  <a:srgbClr val="1E1E1E"/>
                </a:solidFill>
                <a:latin typeface="Segoe UI" pitchFamily="34" charset="0"/>
                <a:ea typeface="Segoe UI" pitchFamily="34" charset="-122"/>
                <a:cs typeface="Segoe UI" pitchFamily="34" charset="-120"/>
              </a:rPr>
              <a:t>3  ADMINISTRATION AND DATA</a:t>
            </a:r>
            <a:endParaRPr lang="en-US" sz="1220" dirty="0"/>
          </a:p>
        </p:txBody>
      </p:sp>
      <p:sp>
        <p:nvSpPr>
          <p:cNvPr id="14" name="Shape 12"/>
          <p:cNvSpPr/>
          <p:nvPr/>
        </p:nvSpPr>
        <p:spPr>
          <a:xfrm>
            <a:off x="8247888" y="3968496"/>
            <a:ext cx="3474720" cy="1828800"/>
          </a:xfrm>
          <a:prstGeom prst="roundRect">
            <a:avLst>
              <a:gd name="adj" fmla="val 2500"/>
            </a:avLst>
          </a:prstGeom>
          <a:solidFill>
            <a:srgbClr val="FFFFFF">
              <a:alpha val="0"/>
            </a:srgbClr>
          </a:solidFill>
          <a:ln w="20320">
            <a:solidFill>
              <a:srgbClr val="5C2D91"/>
            </a:solidFill>
            <a:prstDash val="solid"/>
          </a:ln>
        </p:spPr>
      </p:sp>
      <p:sp>
        <p:nvSpPr>
          <p:cNvPr id="15" name="Text 13"/>
          <p:cNvSpPr/>
          <p:nvPr/>
        </p:nvSpPr>
        <p:spPr>
          <a:xfrm>
            <a:off x="8430768" y="4078224"/>
            <a:ext cx="3108960" cy="228600"/>
          </a:xfrm>
          <a:prstGeom prst="rect">
            <a:avLst/>
          </a:prstGeom>
          <a:noFill/>
          <a:ln/>
        </p:spPr>
        <p:txBody>
          <a:bodyPr wrap="square" lIns="0" tIns="0" rIns="0" bIns="0" rtlCol="0" anchor="ctr">
            <a:normAutofit/>
          </a:bodyPr>
          <a:lstStyle/>
          <a:p>
            <a:pPr indent="0" marL="0">
              <a:buNone/>
            </a:pPr>
            <a:r>
              <a:rPr lang="en-US" sz="1220" b="1" dirty="0">
                <a:solidFill>
                  <a:srgbClr val="1E1E1E"/>
                </a:solidFill>
                <a:latin typeface="Segoe UI" pitchFamily="34" charset="0"/>
                <a:ea typeface="Segoe UI" pitchFamily="34" charset="-122"/>
                <a:cs typeface="Segoe UI" pitchFamily="34" charset="-120"/>
              </a:rPr>
              <a:t>4  OPTIONAL EXPERIENCE ADAPTERS</a:t>
            </a:r>
            <a:endParaRPr lang="en-US" sz="1220" dirty="0"/>
          </a:p>
        </p:txBody>
      </p:sp>
      <p:sp>
        <p:nvSpPr>
          <p:cNvPr id="16" name="Shape 14"/>
          <p:cNvSpPr/>
          <p:nvPr/>
        </p:nvSpPr>
        <p:spPr>
          <a:xfrm>
            <a:off x="457200" y="2267712"/>
            <a:ext cx="868680" cy="621792"/>
          </a:xfrm>
          <a:prstGeom prst="roundRect">
            <a:avLst>
              <a:gd name="adj" fmla="val 7353"/>
            </a:avLst>
          </a:prstGeom>
          <a:solidFill>
            <a:srgbClr val="F3F2F1"/>
          </a:solidFill>
          <a:ln w="15875">
            <a:solidFill>
              <a:srgbClr val="495057"/>
            </a:solidFill>
            <a:prstDash val="solid"/>
          </a:ln>
        </p:spPr>
      </p:sp>
      <p:sp>
        <p:nvSpPr>
          <p:cNvPr id="17" name="Text 15"/>
          <p:cNvSpPr/>
          <p:nvPr/>
        </p:nvSpPr>
        <p:spPr>
          <a:xfrm>
            <a:off x="539496" y="2359152"/>
            <a:ext cx="704088" cy="164592"/>
          </a:xfrm>
          <a:prstGeom prst="rect">
            <a:avLst/>
          </a:prstGeom>
          <a:noFill/>
          <a:ln/>
        </p:spPr>
        <p:txBody>
          <a:bodyPr wrap="square" lIns="0" tIns="0" rIns="0" bIns="0" rtlCol="0" anchor="ctr">
            <a:normAutofit/>
          </a:bodyPr>
          <a:lstStyle/>
          <a:p>
            <a:pPr algn="ctr" indent="0" marL="0">
              <a:buNone/>
            </a:pPr>
            <a:r>
              <a:rPr lang="en-US" sz="890" b="1" dirty="0">
                <a:solidFill>
                  <a:srgbClr val="1E1E1E"/>
                </a:solidFill>
                <a:latin typeface="Segoe UI" pitchFamily="34" charset="0"/>
                <a:ea typeface="Segoe UI" pitchFamily="34" charset="-122"/>
                <a:cs typeface="Segoe UI" pitchFamily="34" charset="-120"/>
              </a:rPr>
              <a:t>Agent / App user</a:t>
            </a:r>
            <a:endParaRPr lang="en-US" sz="890" dirty="0"/>
          </a:p>
        </p:txBody>
      </p:sp>
      <p:sp>
        <p:nvSpPr>
          <p:cNvPr id="18" name="Shape 16"/>
          <p:cNvSpPr/>
          <p:nvPr/>
        </p:nvSpPr>
        <p:spPr>
          <a:xfrm>
            <a:off x="1993392" y="1975104"/>
            <a:ext cx="1965960" cy="713232"/>
          </a:xfrm>
          <a:prstGeom prst="roundRect">
            <a:avLst>
              <a:gd name="adj" fmla="val 6410"/>
            </a:avLst>
          </a:prstGeom>
          <a:solidFill>
            <a:srgbClr val="CFE4FA"/>
          </a:solidFill>
          <a:ln w="15875">
            <a:solidFill>
              <a:srgbClr val="0078D4"/>
            </a:solidFill>
            <a:prstDash val="solid"/>
          </a:ln>
          <a:effectLst>
            <a:outerShdw sx="100000" sy="100000" kx="0" ky="0" algn="bl" rotWithShape="0" blurRad="19050" dist="8890" dir="2700000">
              <a:srgbClr val="000000">
                <a:alpha val="10000"/>
              </a:srgbClr>
            </a:outerShdw>
          </a:effectLst>
        </p:spPr>
      </p:sp>
      <p:sp>
        <p:nvSpPr>
          <p:cNvPr id="19" name="Text 17"/>
          <p:cNvSpPr/>
          <p:nvPr/>
        </p:nvSpPr>
        <p:spPr>
          <a:xfrm>
            <a:off x="2075688" y="2066544"/>
            <a:ext cx="1801368" cy="201168"/>
          </a:xfrm>
          <a:prstGeom prst="rect">
            <a:avLst/>
          </a:prstGeom>
          <a:noFill/>
          <a:ln/>
        </p:spPr>
        <p:txBody>
          <a:bodyPr wrap="square" lIns="0" tIns="0" rIns="0" bIns="0" rtlCol="0" anchor="ctr">
            <a:normAutofit/>
          </a:bodyPr>
          <a:lstStyle/>
          <a:p>
            <a:pPr algn="ctr" indent="0" marL="0">
              <a:buNone/>
            </a:pPr>
            <a:r>
              <a:rPr lang="en-US" sz="1030" b="1" dirty="0">
                <a:solidFill>
                  <a:srgbClr val="1E1E1E"/>
                </a:solidFill>
                <a:latin typeface="Segoe UI" pitchFamily="34" charset="0"/>
                <a:ea typeface="Segoe UI" pitchFamily="34" charset="-122"/>
                <a:cs typeface="Segoe UI" pitchFamily="34" charset="-120"/>
              </a:rPr>
              <a:t>Dynamics 365 / Model-driven app</a:t>
            </a:r>
            <a:endParaRPr lang="en-US" sz="1030" dirty="0"/>
          </a:p>
        </p:txBody>
      </p:sp>
      <p:sp>
        <p:nvSpPr>
          <p:cNvPr id="20" name="Text 18"/>
          <p:cNvSpPr/>
          <p:nvPr/>
        </p:nvSpPr>
        <p:spPr>
          <a:xfrm>
            <a:off x="2075688" y="2286000"/>
            <a:ext cx="1801368" cy="329184"/>
          </a:xfrm>
          <a:prstGeom prst="rect">
            <a:avLst/>
          </a:prstGeom>
          <a:noFill/>
          <a:ln/>
        </p:spPr>
        <p:txBody>
          <a:bodyPr wrap="square" lIns="0" tIns="0" rIns="0" bIns="0" rtlCol="0" anchor="ctr">
            <a:normAutofit/>
          </a:bodyPr>
          <a:lstStyle/>
          <a:p>
            <a:pPr algn="ctr" indent="0" marL="0">
              <a:buNone/>
            </a:pPr>
            <a:r>
              <a:rPr lang="en-US" sz="850" dirty="0">
                <a:solidFill>
                  <a:srgbClr val="1E1E1E"/>
                </a:solidFill>
                <a:latin typeface="Segoe UI" pitchFamily="34" charset="0"/>
                <a:ea typeface="Segoe UI" pitchFamily="34" charset="-122"/>
                <a:cs typeface="Segoe UI" pitchFamily="34" charset="-120"/>
              </a:rPr>
              <a:t>Packaged or custom form</a:t>
            </a:r>
            <a:endParaRPr lang="en-US" sz="850" dirty="0"/>
          </a:p>
        </p:txBody>
      </p:sp>
      <p:sp>
        <p:nvSpPr>
          <p:cNvPr id="21" name="Shape 19"/>
          <p:cNvSpPr/>
          <p:nvPr/>
        </p:nvSpPr>
        <p:spPr>
          <a:xfrm>
            <a:off x="1993392" y="3154680"/>
            <a:ext cx="1965960" cy="786384"/>
          </a:xfrm>
          <a:prstGeom prst="roundRect">
            <a:avLst>
              <a:gd name="adj" fmla="val 5814"/>
            </a:avLst>
          </a:prstGeom>
          <a:solidFill>
            <a:srgbClr val="CFE4FA"/>
          </a:solidFill>
          <a:ln w="15875">
            <a:solidFill>
              <a:srgbClr val="0078D4"/>
            </a:solidFill>
            <a:prstDash val="solid"/>
          </a:ln>
          <a:effectLst>
            <a:outerShdw sx="100000" sy="100000" kx="0" ky="0" algn="bl" rotWithShape="0" blurRad="19050" dist="8890" dir="2700000">
              <a:srgbClr val="000000">
                <a:alpha val="10000"/>
              </a:srgbClr>
            </a:outerShdw>
          </a:effectLst>
        </p:spPr>
      </p:sp>
      <p:sp>
        <p:nvSpPr>
          <p:cNvPr id="22" name="Text 20"/>
          <p:cNvSpPr/>
          <p:nvPr/>
        </p:nvSpPr>
        <p:spPr>
          <a:xfrm>
            <a:off x="2075688" y="3246120"/>
            <a:ext cx="1801368" cy="201168"/>
          </a:xfrm>
          <a:prstGeom prst="rect">
            <a:avLst/>
          </a:prstGeom>
          <a:noFill/>
          <a:ln/>
        </p:spPr>
        <p:txBody>
          <a:bodyPr wrap="square" lIns="0" tIns="0" rIns="0" bIns="0" rtlCol="0" anchor="ctr">
            <a:normAutofit/>
          </a:bodyPr>
          <a:lstStyle/>
          <a:p>
            <a:pPr algn="ctr" indent="0" marL="0">
              <a:buNone/>
            </a:pPr>
            <a:r>
              <a:rPr lang="en-US" sz="1030" b="1" dirty="0">
                <a:solidFill>
                  <a:srgbClr val="1E1E1E"/>
                </a:solidFill>
                <a:latin typeface="Segoe UI" pitchFamily="34" charset="0"/>
                <a:ea typeface="Segoe UI" pitchFamily="34" charset="-122"/>
                <a:cs typeface="Segoe UI" pitchFamily="34" charset="-120"/>
              </a:rPr>
              <a:t>Form OnLoad launcher</a:t>
            </a:r>
            <a:endParaRPr lang="en-US" sz="1030" dirty="0"/>
          </a:p>
        </p:txBody>
      </p:sp>
      <p:sp>
        <p:nvSpPr>
          <p:cNvPr id="23" name="Text 21"/>
          <p:cNvSpPr/>
          <p:nvPr/>
        </p:nvSpPr>
        <p:spPr>
          <a:xfrm>
            <a:off x="2075688" y="3465576"/>
            <a:ext cx="1801368" cy="402336"/>
          </a:xfrm>
          <a:prstGeom prst="rect">
            <a:avLst/>
          </a:prstGeom>
          <a:noFill/>
          <a:ln/>
        </p:spPr>
        <p:txBody>
          <a:bodyPr wrap="square" lIns="0" tIns="0" rIns="0" bIns="0" rtlCol="0" anchor="ctr">
            <a:normAutofit/>
          </a:bodyPr>
          <a:lstStyle/>
          <a:p>
            <a:pPr algn="ctr" indent="0" marL="0">
              <a:buNone/>
            </a:pPr>
            <a:r>
              <a:rPr lang="en-US" sz="850" dirty="0">
                <a:solidFill>
                  <a:srgbClr val="1E1E1E"/>
                </a:solidFill>
                <a:latin typeface="Segoe UI" pitchFamily="34" charset="0"/>
                <a:ea typeface="Segoe UI" pitchFamily="34" charset="-122"/>
                <a:cs typeface="Segoe UI" pitchFamily="34" charset="-120"/>
              </a:rPr>
              <a:t>Generic_OpenSidebar</a:t>
            </a:r>
            <a:endParaRPr lang="en-US" sz="850" dirty="0"/>
          </a:p>
          <a:p>
            <a:pPr algn="ctr" indent="0" marL="0">
              <a:buNone/>
            </a:pPr>
            <a:r>
              <a:rPr lang="en-US" sz="850" dirty="0">
                <a:solidFill>
                  <a:srgbClr val="1E1E1E"/>
                </a:solidFill>
                <a:latin typeface="Segoe UI" pitchFamily="34" charset="0"/>
                <a:ea typeface="Segoe UI" pitchFamily="34" charset="-122"/>
                <a:cs typeface="Segoe UI" pitchFamily="34" charset="-120"/>
              </a:rPr>
              <a:t>sidebar_sidebar.js</a:t>
            </a:r>
            <a:endParaRPr lang="en-US" sz="850" dirty="0"/>
          </a:p>
        </p:txBody>
      </p:sp>
      <p:sp>
        <p:nvSpPr>
          <p:cNvPr id="24" name="Shape 22"/>
          <p:cNvSpPr/>
          <p:nvPr/>
        </p:nvSpPr>
        <p:spPr>
          <a:xfrm>
            <a:off x="1993392" y="4517136"/>
            <a:ext cx="1965960" cy="841248"/>
          </a:xfrm>
          <a:prstGeom prst="roundRect">
            <a:avLst>
              <a:gd name="adj" fmla="val 5435"/>
            </a:avLst>
          </a:prstGeom>
          <a:solidFill>
            <a:srgbClr val="CFE4FA"/>
          </a:solidFill>
          <a:ln w="15875">
            <a:solidFill>
              <a:srgbClr val="0078D4"/>
            </a:solidFill>
            <a:prstDash val="solid"/>
          </a:ln>
          <a:effectLst>
            <a:outerShdw sx="100000" sy="100000" kx="0" ky="0" algn="bl" rotWithShape="0" blurRad="19050" dist="8890" dir="2700000">
              <a:srgbClr val="000000">
                <a:alpha val="10000"/>
              </a:srgbClr>
            </a:outerShdw>
          </a:effectLst>
        </p:spPr>
      </p:sp>
      <p:sp>
        <p:nvSpPr>
          <p:cNvPr id="25" name="Text 23"/>
          <p:cNvSpPr/>
          <p:nvPr/>
        </p:nvSpPr>
        <p:spPr>
          <a:xfrm>
            <a:off x="2075688" y="4608576"/>
            <a:ext cx="1801368" cy="201168"/>
          </a:xfrm>
          <a:prstGeom prst="rect">
            <a:avLst/>
          </a:prstGeom>
          <a:noFill/>
          <a:ln/>
        </p:spPr>
        <p:txBody>
          <a:bodyPr wrap="square" lIns="0" tIns="0" rIns="0" bIns="0" rtlCol="0" anchor="ctr">
            <a:normAutofit/>
          </a:bodyPr>
          <a:lstStyle/>
          <a:p>
            <a:pPr algn="ctr" indent="0" marL="0">
              <a:buNone/>
            </a:pPr>
            <a:r>
              <a:rPr lang="en-US" sz="1030" b="1" dirty="0">
                <a:solidFill>
                  <a:srgbClr val="1E1E1E"/>
                </a:solidFill>
                <a:latin typeface="Segoe UI" pitchFamily="34" charset="0"/>
                <a:ea typeface="Segoe UI" pitchFamily="34" charset="-122"/>
                <a:cs typeface="Segoe UI" pitchFamily="34" charset="-120"/>
              </a:rPr>
              <a:t>Xrm.App.sidePanes</a:t>
            </a:r>
            <a:endParaRPr lang="en-US" sz="1030" dirty="0"/>
          </a:p>
        </p:txBody>
      </p:sp>
      <p:sp>
        <p:nvSpPr>
          <p:cNvPr id="26" name="Text 24"/>
          <p:cNvSpPr/>
          <p:nvPr/>
        </p:nvSpPr>
        <p:spPr>
          <a:xfrm>
            <a:off x="2075688" y="4828032"/>
            <a:ext cx="1801368" cy="457200"/>
          </a:xfrm>
          <a:prstGeom prst="rect">
            <a:avLst/>
          </a:prstGeom>
          <a:noFill/>
          <a:ln/>
        </p:spPr>
        <p:txBody>
          <a:bodyPr wrap="square" lIns="0" tIns="0" rIns="0" bIns="0" rtlCol="0" anchor="ctr">
            <a:normAutofit/>
          </a:bodyPr>
          <a:lstStyle/>
          <a:p>
            <a:pPr algn="ctr" indent="0" marL="0">
              <a:buNone/>
            </a:pPr>
            <a:r>
              <a:rPr lang="en-US" sz="850" dirty="0">
                <a:solidFill>
                  <a:srgbClr val="1E1E1E"/>
                </a:solidFill>
                <a:latin typeface="Segoe UI" pitchFamily="34" charset="0"/>
                <a:ea typeface="Segoe UI" pitchFamily="34" charset="-122"/>
                <a:cs typeface="Segoe UI" pitchFamily="34" charset="-120"/>
              </a:rPr>
              <a:t>Persistent pane lifecycle</a:t>
            </a:r>
            <a:endParaRPr lang="en-US" sz="850" dirty="0"/>
          </a:p>
          <a:p>
            <a:pPr algn="ctr" indent="0" marL="0">
              <a:buNone/>
            </a:pPr>
            <a:r>
              <a:rPr lang="en-US" sz="850" dirty="0">
                <a:solidFill>
                  <a:srgbClr val="1E1E1E"/>
                </a:solidFill>
                <a:latin typeface="Segoe UI" pitchFamily="34" charset="0"/>
                <a:ea typeface="Segoe UI" pitchFamily="34" charset="-122"/>
                <a:cs typeface="Segoe UI" pitchFamily="34" charset="-120"/>
              </a:rPr>
              <a:t>Open, reuse, focus</a:t>
            </a:r>
            <a:endParaRPr lang="en-US" sz="850" dirty="0"/>
          </a:p>
        </p:txBody>
      </p:sp>
      <p:sp>
        <p:nvSpPr>
          <p:cNvPr id="27" name="Shape 25"/>
          <p:cNvSpPr/>
          <p:nvPr/>
        </p:nvSpPr>
        <p:spPr>
          <a:xfrm>
            <a:off x="5010912" y="1975104"/>
            <a:ext cx="2542032" cy="749808"/>
          </a:xfrm>
          <a:prstGeom prst="roundRect">
            <a:avLst>
              <a:gd name="adj" fmla="val 6098"/>
            </a:avLst>
          </a:prstGeom>
          <a:solidFill>
            <a:srgbClr val="DFF6DD"/>
          </a:solidFill>
          <a:ln w="15875">
            <a:solidFill>
              <a:srgbClr val="107C10"/>
            </a:solidFill>
            <a:prstDash val="solid"/>
          </a:ln>
          <a:effectLst>
            <a:outerShdw sx="100000" sy="100000" kx="0" ky="0" algn="bl" rotWithShape="0" blurRad="19050" dist="8890" dir="2700000">
              <a:srgbClr val="000000">
                <a:alpha val="10000"/>
              </a:srgbClr>
            </a:outerShdw>
          </a:effectLst>
        </p:spPr>
      </p:sp>
      <p:sp>
        <p:nvSpPr>
          <p:cNvPr id="28" name="Text 26"/>
          <p:cNvSpPr/>
          <p:nvPr/>
        </p:nvSpPr>
        <p:spPr>
          <a:xfrm>
            <a:off x="5093208" y="2066544"/>
            <a:ext cx="2377440" cy="201168"/>
          </a:xfrm>
          <a:prstGeom prst="rect">
            <a:avLst/>
          </a:prstGeom>
          <a:noFill/>
          <a:ln/>
        </p:spPr>
        <p:txBody>
          <a:bodyPr wrap="square" lIns="0" tIns="0" rIns="0" bIns="0" rtlCol="0" anchor="ctr">
            <a:normAutofit/>
          </a:bodyPr>
          <a:lstStyle/>
          <a:p>
            <a:pPr algn="ctr" indent="0" marL="0">
              <a:buNone/>
            </a:pPr>
            <a:r>
              <a:rPr lang="en-US" sz="1030" b="1" dirty="0">
                <a:solidFill>
                  <a:srgbClr val="1E1E1E"/>
                </a:solidFill>
                <a:latin typeface="Segoe UI" pitchFamily="34" charset="0"/>
                <a:ea typeface="Segoe UI" pitchFamily="34" charset="-122"/>
                <a:cs typeface="Segoe UI" pitchFamily="34" charset="-120"/>
              </a:rPr>
              <a:t>Configuration loader</a:t>
            </a:r>
            <a:endParaRPr lang="en-US" sz="1030" dirty="0"/>
          </a:p>
        </p:txBody>
      </p:sp>
      <p:sp>
        <p:nvSpPr>
          <p:cNvPr id="29" name="Text 27"/>
          <p:cNvSpPr/>
          <p:nvPr/>
        </p:nvSpPr>
        <p:spPr>
          <a:xfrm>
            <a:off x="5093208" y="2286000"/>
            <a:ext cx="2377440" cy="365760"/>
          </a:xfrm>
          <a:prstGeom prst="rect">
            <a:avLst/>
          </a:prstGeom>
          <a:noFill/>
          <a:ln/>
        </p:spPr>
        <p:txBody>
          <a:bodyPr wrap="square" lIns="0" tIns="0" rIns="0" bIns="0" rtlCol="0" anchor="ctr">
            <a:normAutofit/>
          </a:bodyPr>
          <a:lstStyle/>
          <a:p>
            <a:pPr algn="ctr" indent="0" marL="0">
              <a:buNone/>
            </a:pPr>
            <a:r>
              <a:rPr lang="en-US" sz="850" dirty="0">
                <a:solidFill>
                  <a:srgbClr val="1E1E1E"/>
                </a:solidFill>
                <a:latin typeface="Segoe UI" pitchFamily="34" charset="0"/>
                <a:ea typeface="Segoe UI" pitchFamily="34" charset="-122"/>
                <a:cs typeface="Segoe UI" pitchFamily="34" charset="-120"/>
              </a:rPr>
              <a:t>Dataverse Web API</a:t>
            </a:r>
            <a:endParaRPr lang="en-US" sz="850" dirty="0"/>
          </a:p>
          <a:p>
            <a:pPr algn="ctr" indent="0" marL="0">
              <a:buNone/>
            </a:pPr>
            <a:r>
              <a:rPr lang="en-US" sz="850" dirty="0">
                <a:solidFill>
                  <a:srgbClr val="1E1E1E"/>
                </a:solidFill>
                <a:latin typeface="Segoe UI" pitchFamily="34" charset="0"/>
                <a:ea typeface="Segoe UI" pitchFamily="34" charset="-122"/>
                <a:cs typeface="Segoe UI" pitchFamily="34" charset="-120"/>
              </a:rPr>
              <a:t>Default config + active linked agents</a:t>
            </a:r>
            <a:endParaRPr lang="en-US" sz="850" dirty="0"/>
          </a:p>
        </p:txBody>
      </p:sp>
      <p:sp>
        <p:nvSpPr>
          <p:cNvPr id="30" name="Shape 28"/>
          <p:cNvSpPr/>
          <p:nvPr/>
        </p:nvSpPr>
        <p:spPr>
          <a:xfrm>
            <a:off x="5010912" y="3182112"/>
            <a:ext cx="2542032" cy="804672"/>
          </a:xfrm>
          <a:prstGeom prst="roundRect">
            <a:avLst>
              <a:gd name="adj" fmla="val 5682"/>
            </a:avLst>
          </a:prstGeom>
          <a:solidFill>
            <a:srgbClr val="DFF6DD"/>
          </a:solidFill>
          <a:ln w="15875">
            <a:solidFill>
              <a:srgbClr val="107C10"/>
            </a:solidFill>
            <a:prstDash val="solid"/>
          </a:ln>
          <a:effectLst>
            <a:outerShdw sx="100000" sy="100000" kx="0" ky="0" algn="bl" rotWithShape="0" blurRad="19050" dist="8890" dir="2700000">
              <a:srgbClr val="000000">
                <a:alpha val="10000"/>
              </a:srgbClr>
            </a:outerShdw>
          </a:effectLst>
        </p:spPr>
      </p:sp>
      <p:sp>
        <p:nvSpPr>
          <p:cNvPr id="31" name="Text 29"/>
          <p:cNvSpPr/>
          <p:nvPr/>
        </p:nvSpPr>
        <p:spPr>
          <a:xfrm>
            <a:off x="5093208" y="3273552"/>
            <a:ext cx="2377440" cy="201168"/>
          </a:xfrm>
          <a:prstGeom prst="rect">
            <a:avLst/>
          </a:prstGeom>
          <a:noFill/>
          <a:ln/>
        </p:spPr>
        <p:txBody>
          <a:bodyPr wrap="square" lIns="0" tIns="0" rIns="0" bIns="0" rtlCol="0" anchor="ctr">
            <a:normAutofit/>
          </a:bodyPr>
          <a:lstStyle/>
          <a:p>
            <a:pPr algn="ctr" indent="0" marL="0">
              <a:buNone/>
            </a:pPr>
            <a:r>
              <a:rPr lang="en-US" sz="1030" b="1" dirty="0">
                <a:solidFill>
                  <a:srgbClr val="1E1E1E"/>
                </a:solidFill>
                <a:latin typeface="Segoe UI" pitchFamily="34" charset="0"/>
                <a:ea typeface="Segoe UI" pitchFamily="34" charset="-122"/>
                <a:cs typeface="Segoe UI" pitchFamily="34" charset="-120"/>
              </a:rPr>
              <a:t>Route and policy decision</a:t>
            </a:r>
            <a:endParaRPr lang="en-US" sz="1030" dirty="0"/>
          </a:p>
        </p:txBody>
      </p:sp>
      <p:sp>
        <p:nvSpPr>
          <p:cNvPr id="32" name="Text 30"/>
          <p:cNvSpPr/>
          <p:nvPr/>
        </p:nvSpPr>
        <p:spPr>
          <a:xfrm>
            <a:off x="5093208" y="3493008"/>
            <a:ext cx="2377440" cy="420624"/>
          </a:xfrm>
          <a:prstGeom prst="rect">
            <a:avLst/>
          </a:prstGeom>
          <a:noFill/>
          <a:ln/>
        </p:spPr>
        <p:txBody>
          <a:bodyPr wrap="square" lIns="0" tIns="0" rIns="0" bIns="0" rtlCol="0" anchor="ctr">
            <a:normAutofit/>
          </a:bodyPr>
          <a:lstStyle/>
          <a:p>
            <a:pPr algn="ctr" indent="0" marL="0">
              <a:buNone/>
            </a:pPr>
            <a:r>
              <a:rPr lang="en-US" sz="850" dirty="0">
                <a:solidFill>
                  <a:srgbClr val="1E1E1E"/>
                </a:solidFill>
                <a:latin typeface="Segoe UI" pitchFamily="34" charset="0"/>
                <a:ea typeface="Segoe UI" pitchFamily="34" charset="-122"/>
                <a:cs typeface="Segoe UI" pitchFamily="34" charset="-120"/>
              </a:rPr>
              <a:t>Standard canvas or SSO canvas</a:t>
            </a:r>
            <a:endParaRPr lang="en-US" sz="850" dirty="0"/>
          </a:p>
          <a:p>
            <a:pPr algn="ctr" indent="0" marL="0">
              <a:buNone/>
            </a:pPr>
            <a:r>
              <a:rPr lang="en-US" sz="850" dirty="0">
                <a:solidFill>
                  <a:srgbClr val="1E1E1E"/>
                </a:solidFill>
                <a:latin typeface="Segoe UI" pitchFamily="34" charset="0"/>
                <a:ea typeface="Segoe UI" pitchFamily="34" charset="-122"/>
                <a:cs typeface="Segoe UI" pitchFamily="34" charset="-120"/>
              </a:rPr>
              <a:t>Validation, errors, retry state</a:t>
            </a:r>
            <a:endParaRPr lang="en-US" sz="850" dirty="0"/>
          </a:p>
        </p:txBody>
      </p:sp>
      <p:sp>
        <p:nvSpPr>
          <p:cNvPr id="33" name="Shape 31"/>
          <p:cNvSpPr/>
          <p:nvPr/>
        </p:nvSpPr>
        <p:spPr>
          <a:xfrm>
            <a:off x="5010912" y="4480560"/>
            <a:ext cx="2542032" cy="914400"/>
          </a:xfrm>
          <a:prstGeom prst="roundRect">
            <a:avLst>
              <a:gd name="adj" fmla="val 5000"/>
            </a:avLst>
          </a:prstGeom>
          <a:solidFill>
            <a:srgbClr val="DFF6DD"/>
          </a:solidFill>
          <a:ln w="15875">
            <a:solidFill>
              <a:srgbClr val="107C10"/>
            </a:solidFill>
            <a:prstDash val="solid"/>
          </a:ln>
          <a:effectLst>
            <a:outerShdw sx="100000" sy="100000" kx="0" ky="0" algn="bl" rotWithShape="0" blurRad="19050" dist="8890" dir="2700000">
              <a:srgbClr val="000000">
                <a:alpha val="10000"/>
              </a:srgbClr>
            </a:outerShdw>
          </a:effectLst>
        </p:spPr>
      </p:sp>
      <p:sp>
        <p:nvSpPr>
          <p:cNvPr id="34" name="Text 32"/>
          <p:cNvSpPr/>
          <p:nvPr/>
        </p:nvSpPr>
        <p:spPr>
          <a:xfrm>
            <a:off x="5093208" y="4572000"/>
            <a:ext cx="2377440" cy="201168"/>
          </a:xfrm>
          <a:prstGeom prst="rect">
            <a:avLst/>
          </a:prstGeom>
          <a:noFill/>
          <a:ln/>
        </p:spPr>
        <p:txBody>
          <a:bodyPr wrap="square" lIns="0" tIns="0" rIns="0" bIns="0" rtlCol="0" anchor="ctr">
            <a:normAutofit/>
          </a:bodyPr>
          <a:lstStyle/>
          <a:p>
            <a:pPr algn="ctr" indent="0" marL="0">
              <a:buNone/>
            </a:pPr>
            <a:r>
              <a:rPr lang="en-US" sz="1030" b="1" dirty="0">
                <a:solidFill>
                  <a:srgbClr val="1E1E1E"/>
                </a:solidFill>
                <a:latin typeface="Segoe UI" pitchFamily="34" charset="0"/>
                <a:ea typeface="Segoe UI" pitchFamily="34" charset="-122"/>
                <a:cs typeface="Segoe UI" pitchFamily="34" charset="-120"/>
              </a:rPr>
              <a:t>Experience host (tabs 1-4)</a:t>
            </a:r>
            <a:endParaRPr lang="en-US" sz="1030" dirty="0"/>
          </a:p>
        </p:txBody>
      </p:sp>
      <p:sp>
        <p:nvSpPr>
          <p:cNvPr id="35" name="Text 33"/>
          <p:cNvSpPr/>
          <p:nvPr/>
        </p:nvSpPr>
        <p:spPr>
          <a:xfrm>
            <a:off x="5093208" y="4791456"/>
            <a:ext cx="2377440" cy="530352"/>
          </a:xfrm>
          <a:prstGeom prst="rect">
            <a:avLst/>
          </a:prstGeom>
          <a:noFill/>
          <a:ln/>
        </p:spPr>
        <p:txBody>
          <a:bodyPr wrap="square" lIns="0" tIns="0" rIns="0" bIns="0" rtlCol="0" anchor="ctr">
            <a:normAutofit/>
          </a:bodyPr>
          <a:lstStyle/>
          <a:p>
            <a:pPr algn="ctr" indent="0" marL="0">
              <a:buNone/>
            </a:pPr>
            <a:r>
              <a:rPr lang="en-US" sz="820" dirty="0">
                <a:solidFill>
                  <a:srgbClr val="1E1E1E"/>
                </a:solidFill>
                <a:latin typeface="Segoe UI" pitchFamily="34" charset="0"/>
                <a:ea typeface="Segoe UI" pitchFamily="34" charset="-122"/>
                <a:cs typeface="Segoe UI" pitchFamily="34" charset="-120"/>
              </a:rPr>
              <a:t>Instructions + theme + icon</a:t>
            </a:r>
            <a:endParaRPr lang="en-US" sz="820" dirty="0"/>
          </a:p>
          <a:p>
            <a:pPr algn="ctr" indent="0" marL="0">
              <a:buNone/>
            </a:pPr>
            <a:r>
              <a:rPr lang="en-US" sz="820" dirty="0">
                <a:solidFill>
                  <a:srgbClr val="1E1E1E"/>
                </a:solidFill>
                <a:latin typeface="Segoe UI" pitchFamily="34" charset="0"/>
                <a:ea typeface="Segoe UI" pitchFamily="34" charset="-122"/>
                <a:cs typeface="Segoe UI" pitchFamily="34" charset="-120"/>
              </a:rPr>
              <a:t>URL / approved HTML embed</a:t>
            </a:r>
            <a:endParaRPr lang="en-US" sz="820" dirty="0"/>
          </a:p>
          <a:p>
            <a:pPr algn="ctr" indent="0" marL="0">
              <a:buNone/>
            </a:pPr>
            <a:r>
              <a:rPr lang="en-US" sz="820" dirty="0">
                <a:solidFill>
                  <a:srgbClr val="1E1E1E"/>
                </a:solidFill>
                <a:latin typeface="Segoe UI" pitchFamily="34" charset="0"/>
                <a:ea typeface="Segoe UI" pitchFamily="34" charset="-122"/>
                <a:cs typeface="Segoe UI" pitchFamily="34" charset="-120"/>
              </a:rPr>
              <a:t>Linked-agent picker</a:t>
            </a:r>
            <a:endParaRPr lang="en-US" sz="820" dirty="0"/>
          </a:p>
          <a:p>
            <a:pPr algn="ctr" indent="0" marL="0">
              <a:buNone/>
            </a:pPr>
            <a:r>
              <a:rPr lang="en-US" sz="820" dirty="0">
                <a:solidFill>
                  <a:srgbClr val="1E1E1E"/>
                </a:solidFill>
                <a:latin typeface="Segoe UI" pitchFamily="34" charset="0"/>
                <a:ea typeface="Segoe UI" pitchFamily="34" charset="-122"/>
                <a:cs typeface="Segoe UI" pitchFamily="34" charset="-120"/>
              </a:rPr>
              <a:t>Pop-out and restore controls</a:t>
            </a:r>
            <a:endParaRPr lang="en-US" sz="820" dirty="0"/>
          </a:p>
        </p:txBody>
      </p:sp>
      <p:sp>
        <p:nvSpPr>
          <p:cNvPr id="36" name="Shape 34"/>
          <p:cNvSpPr/>
          <p:nvPr/>
        </p:nvSpPr>
        <p:spPr>
          <a:xfrm>
            <a:off x="8577072" y="1975104"/>
            <a:ext cx="1170432" cy="713232"/>
          </a:xfrm>
          <a:prstGeom prst="roundRect">
            <a:avLst>
              <a:gd name="adj" fmla="val 6410"/>
            </a:avLst>
          </a:prstGeom>
          <a:solidFill>
            <a:srgbClr val="FFF4CE"/>
          </a:solidFill>
          <a:ln w="15875">
            <a:solidFill>
              <a:srgbClr val="F7630C"/>
            </a:solidFill>
            <a:prstDash val="solid"/>
          </a:ln>
          <a:effectLst>
            <a:outerShdw sx="100000" sy="100000" kx="0" ky="0" algn="bl" rotWithShape="0" blurRad="19050" dist="8890" dir="2700000">
              <a:srgbClr val="000000">
                <a:alpha val="10000"/>
              </a:srgbClr>
            </a:outerShdw>
          </a:effectLst>
        </p:spPr>
      </p:sp>
      <p:sp>
        <p:nvSpPr>
          <p:cNvPr id="37" name="Text 35"/>
          <p:cNvSpPr/>
          <p:nvPr/>
        </p:nvSpPr>
        <p:spPr>
          <a:xfrm>
            <a:off x="8659368" y="2066544"/>
            <a:ext cx="1005840" cy="201168"/>
          </a:xfrm>
          <a:prstGeom prst="rect">
            <a:avLst/>
          </a:prstGeom>
          <a:noFill/>
          <a:ln/>
        </p:spPr>
        <p:txBody>
          <a:bodyPr wrap="square" lIns="0" tIns="0" rIns="0" bIns="0" rtlCol="0" anchor="ctr">
            <a:normAutofit/>
          </a:bodyPr>
          <a:lstStyle/>
          <a:p>
            <a:pPr algn="ctr" indent="0" marL="0">
              <a:buNone/>
            </a:pPr>
            <a:r>
              <a:rPr lang="en-US" sz="920" b="1" dirty="0">
                <a:solidFill>
                  <a:srgbClr val="1E1E1E"/>
                </a:solidFill>
                <a:latin typeface="Segoe UI" pitchFamily="34" charset="0"/>
                <a:ea typeface="Segoe UI" pitchFamily="34" charset="-122"/>
                <a:cs typeface="Segoe UI" pitchFamily="34" charset="-120"/>
              </a:rPr>
              <a:t>Maker / Admin</a:t>
            </a:r>
            <a:endParaRPr lang="en-US" sz="920" dirty="0"/>
          </a:p>
        </p:txBody>
      </p:sp>
      <p:sp>
        <p:nvSpPr>
          <p:cNvPr id="38" name="Text 36"/>
          <p:cNvSpPr/>
          <p:nvPr/>
        </p:nvSpPr>
        <p:spPr>
          <a:xfrm>
            <a:off x="8659368" y="2286000"/>
            <a:ext cx="1005840" cy="329184"/>
          </a:xfrm>
          <a:prstGeom prst="rect">
            <a:avLst/>
          </a:prstGeom>
          <a:noFill/>
          <a:ln/>
        </p:spPr>
        <p:txBody>
          <a:bodyPr wrap="square" lIns="0" tIns="0" rIns="0" bIns="0" rtlCol="0" anchor="ctr">
            <a:normAutofit/>
          </a:bodyPr>
          <a:lstStyle/>
          <a:p>
            <a:pPr algn="ctr" indent="0" marL="0">
              <a:buNone/>
            </a:pPr>
            <a:r>
              <a:rPr lang="en-US" sz="800" dirty="0">
                <a:solidFill>
                  <a:srgbClr val="1E1E1E"/>
                </a:solidFill>
                <a:latin typeface="Segoe UI" pitchFamily="34" charset="0"/>
                <a:ea typeface="Segoe UI" pitchFamily="34" charset="-122"/>
                <a:cs typeface="Segoe UI" pitchFamily="34" charset="-120"/>
              </a:rPr>
              <a:t>Model-driven admin app</a:t>
            </a:r>
            <a:endParaRPr lang="en-US" sz="800" dirty="0"/>
          </a:p>
        </p:txBody>
      </p:sp>
      <p:sp>
        <p:nvSpPr>
          <p:cNvPr id="39" name="Shape 37"/>
          <p:cNvSpPr/>
          <p:nvPr/>
        </p:nvSpPr>
        <p:spPr>
          <a:xfrm>
            <a:off x="10076688" y="1975104"/>
            <a:ext cx="1298448" cy="822960"/>
          </a:xfrm>
          <a:prstGeom prst="roundRect">
            <a:avLst>
              <a:gd name="adj" fmla="val 5556"/>
            </a:avLst>
          </a:prstGeom>
          <a:solidFill>
            <a:srgbClr val="FFF4CE"/>
          </a:solidFill>
          <a:ln w="15875">
            <a:solidFill>
              <a:srgbClr val="F7630C"/>
            </a:solidFill>
            <a:prstDash val="solid"/>
          </a:ln>
          <a:effectLst>
            <a:outerShdw sx="100000" sy="100000" kx="0" ky="0" algn="bl" rotWithShape="0" blurRad="19050" dist="8890" dir="2700000">
              <a:srgbClr val="000000">
                <a:alpha val="10000"/>
              </a:srgbClr>
            </a:outerShdw>
          </a:effectLst>
        </p:spPr>
      </p:sp>
      <p:sp>
        <p:nvSpPr>
          <p:cNvPr id="40" name="Text 38"/>
          <p:cNvSpPr/>
          <p:nvPr/>
        </p:nvSpPr>
        <p:spPr>
          <a:xfrm>
            <a:off x="10158984" y="2066544"/>
            <a:ext cx="1133856" cy="201168"/>
          </a:xfrm>
          <a:prstGeom prst="rect">
            <a:avLst/>
          </a:prstGeom>
          <a:noFill/>
          <a:ln/>
        </p:spPr>
        <p:txBody>
          <a:bodyPr wrap="square" lIns="0" tIns="0" rIns="0" bIns="0" rtlCol="0" anchor="ctr">
            <a:normAutofit/>
          </a:bodyPr>
          <a:lstStyle/>
          <a:p>
            <a:pPr algn="ctr" indent="0" marL="0">
              <a:buNone/>
            </a:pPr>
            <a:r>
              <a:rPr lang="en-US" sz="880" b="1" dirty="0">
                <a:solidFill>
                  <a:srgbClr val="1E1E1E"/>
                </a:solidFill>
                <a:latin typeface="Segoe UI" pitchFamily="34" charset="0"/>
                <a:ea typeface="Segoe UI" pitchFamily="34" charset="-122"/>
                <a:cs typeface="Segoe UI" pitchFamily="34" charset="-120"/>
              </a:rPr>
              <a:t>Sidebar Configuration</a:t>
            </a:r>
            <a:endParaRPr lang="en-US" sz="880" dirty="0"/>
          </a:p>
        </p:txBody>
      </p:sp>
      <p:sp>
        <p:nvSpPr>
          <p:cNvPr id="41" name="Text 39"/>
          <p:cNvSpPr/>
          <p:nvPr/>
        </p:nvSpPr>
        <p:spPr>
          <a:xfrm>
            <a:off x="10158984" y="2286000"/>
            <a:ext cx="1133856" cy="438912"/>
          </a:xfrm>
          <a:prstGeom prst="rect">
            <a:avLst/>
          </a:prstGeom>
          <a:noFill/>
          <a:ln/>
        </p:spPr>
        <p:txBody>
          <a:bodyPr wrap="square" lIns="0" tIns="0" rIns="0" bIns="0" rtlCol="0" anchor="ctr">
            <a:normAutofit/>
          </a:bodyPr>
          <a:lstStyle/>
          <a:p>
            <a:pPr algn="ctr" indent="0" marL="0">
              <a:buNone/>
            </a:pPr>
            <a:r>
              <a:rPr lang="en-US" sz="780" dirty="0">
                <a:solidFill>
                  <a:srgbClr val="1E1E1E"/>
                </a:solidFill>
                <a:latin typeface="Segoe UI" pitchFamily="34" charset="0"/>
                <a:ea typeface="Segoe UI" pitchFamily="34" charset="-122"/>
                <a:cs typeface="Segoe UI" pitchFamily="34" charset="-120"/>
              </a:rPr>
              <a:t>sidebar_genericsidebar</a:t>
            </a:r>
            <a:endParaRPr lang="en-US" sz="780" dirty="0"/>
          </a:p>
          <a:p>
            <a:pPr algn="ctr" indent="0" marL="0">
              <a:buNone/>
            </a:pPr>
            <a:r>
              <a:rPr lang="en-US" sz="780" dirty="0">
                <a:solidFill>
                  <a:srgbClr val="1E1E1E"/>
                </a:solidFill>
                <a:latin typeface="Segoe UI" pitchFamily="34" charset="0"/>
                <a:ea typeface="Segoe UI" pitchFamily="34" charset="-122"/>
                <a:cs typeface="Segoe UI" pitchFamily="34" charset="-120"/>
              </a:rPr>
              <a:t>1 shared/default row</a:t>
            </a:r>
            <a:endParaRPr lang="en-US" sz="780" dirty="0"/>
          </a:p>
        </p:txBody>
      </p:sp>
      <p:sp>
        <p:nvSpPr>
          <p:cNvPr id="42" name="Shape 40"/>
          <p:cNvSpPr/>
          <p:nvPr/>
        </p:nvSpPr>
        <p:spPr>
          <a:xfrm>
            <a:off x="10076688" y="2916936"/>
            <a:ext cx="1298448" cy="640080"/>
          </a:xfrm>
          <a:prstGeom prst="roundRect">
            <a:avLst>
              <a:gd name="adj" fmla="val 7143"/>
            </a:avLst>
          </a:prstGeom>
          <a:solidFill>
            <a:srgbClr val="FFF4CE"/>
          </a:solidFill>
          <a:ln w="15875">
            <a:solidFill>
              <a:srgbClr val="F7630C"/>
            </a:solidFill>
            <a:prstDash val="solid"/>
          </a:ln>
          <a:effectLst>
            <a:outerShdw sx="100000" sy="100000" kx="0" ky="0" algn="bl" rotWithShape="0" blurRad="19050" dist="8890" dir="2700000">
              <a:srgbClr val="000000">
                <a:alpha val="10000"/>
              </a:srgbClr>
            </a:outerShdw>
          </a:effectLst>
        </p:spPr>
      </p:sp>
      <p:sp>
        <p:nvSpPr>
          <p:cNvPr id="43" name="Text 41"/>
          <p:cNvSpPr/>
          <p:nvPr/>
        </p:nvSpPr>
        <p:spPr>
          <a:xfrm>
            <a:off x="10158984" y="3008376"/>
            <a:ext cx="1133856" cy="201168"/>
          </a:xfrm>
          <a:prstGeom prst="rect">
            <a:avLst/>
          </a:prstGeom>
          <a:noFill/>
          <a:ln/>
        </p:spPr>
        <p:txBody>
          <a:bodyPr wrap="square" lIns="0" tIns="0" rIns="0" bIns="0" rtlCol="0" anchor="ctr">
            <a:normAutofit/>
          </a:bodyPr>
          <a:lstStyle/>
          <a:p>
            <a:pPr algn="ctr" indent="0" marL="0">
              <a:buNone/>
            </a:pPr>
            <a:r>
              <a:rPr lang="en-US" sz="870" b="1" dirty="0">
                <a:solidFill>
                  <a:srgbClr val="1E1E1E"/>
                </a:solidFill>
                <a:latin typeface="Segoe UI" pitchFamily="34" charset="0"/>
                <a:ea typeface="Segoe UI" pitchFamily="34" charset="-122"/>
                <a:cs typeface="Segoe UI" pitchFamily="34" charset="-120"/>
              </a:rPr>
              <a:t>Linked Agent rows</a:t>
            </a:r>
            <a:endParaRPr lang="en-US" sz="870" dirty="0"/>
          </a:p>
        </p:txBody>
      </p:sp>
      <p:sp>
        <p:nvSpPr>
          <p:cNvPr id="44" name="Text 42"/>
          <p:cNvSpPr/>
          <p:nvPr/>
        </p:nvSpPr>
        <p:spPr>
          <a:xfrm>
            <a:off x="10158984" y="3227832"/>
            <a:ext cx="1133856" cy="256032"/>
          </a:xfrm>
          <a:prstGeom prst="rect">
            <a:avLst/>
          </a:prstGeom>
          <a:noFill/>
          <a:ln/>
        </p:spPr>
        <p:txBody>
          <a:bodyPr wrap="square" lIns="0" tIns="0" rIns="0" bIns="0" rtlCol="0" anchor="ctr">
            <a:normAutofit/>
          </a:bodyPr>
          <a:lstStyle/>
          <a:p>
            <a:pPr algn="ctr" indent="0" marL="0">
              <a:buNone/>
            </a:pPr>
            <a:r>
              <a:rPr lang="en-US" sz="770" dirty="0">
                <a:solidFill>
                  <a:srgbClr val="1E1E1E"/>
                </a:solidFill>
                <a:latin typeface="Segoe UI" pitchFamily="34" charset="0"/>
                <a:ea typeface="Segoe UI" pitchFamily="34" charset="-122"/>
                <a:cs typeface="Segoe UI" pitchFamily="34" charset="-120"/>
              </a:rPr>
              <a:t>0..N active agents</a:t>
            </a:r>
            <a:endParaRPr lang="en-US" sz="770" dirty="0"/>
          </a:p>
          <a:p>
            <a:pPr algn="ctr" indent="0" marL="0">
              <a:buNone/>
            </a:pPr>
            <a:r>
              <a:rPr lang="en-US" sz="770" dirty="0">
                <a:solidFill>
                  <a:srgbClr val="1E1E1E"/>
                </a:solidFill>
                <a:latin typeface="Segoe UI" pitchFamily="34" charset="0"/>
                <a:ea typeface="Segoe UI" pitchFamily="34" charset="-122"/>
                <a:cs typeface="Segoe UI" pitchFamily="34" charset="-120"/>
              </a:rPr>
              <a:t>Metadata + endpoint</a:t>
            </a:r>
            <a:endParaRPr lang="en-US" sz="770" dirty="0"/>
          </a:p>
        </p:txBody>
      </p:sp>
      <p:sp>
        <p:nvSpPr>
          <p:cNvPr id="45" name="Shape 43"/>
          <p:cNvSpPr/>
          <p:nvPr/>
        </p:nvSpPr>
        <p:spPr>
          <a:xfrm>
            <a:off x="8567928" y="4407408"/>
            <a:ext cx="1207008" cy="566928"/>
          </a:xfrm>
          <a:prstGeom prst="roundRect">
            <a:avLst>
              <a:gd name="adj" fmla="val 8065"/>
            </a:avLst>
          </a:prstGeom>
          <a:solidFill>
            <a:srgbClr val="E8DAEF"/>
          </a:solidFill>
          <a:ln w="15875">
            <a:solidFill>
              <a:srgbClr val="5C2D91"/>
            </a:solidFill>
            <a:prstDash val="solid"/>
          </a:ln>
          <a:effectLst>
            <a:outerShdw sx="100000" sy="100000" kx="0" ky="0" algn="bl" rotWithShape="0" blurRad="19050" dist="8890" dir="2700000">
              <a:srgbClr val="000000">
                <a:alpha val="10000"/>
              </a:srgbClr>
            </a:outerShdw>
          </a:effectLst>
        </p:spPr>
      </p:sp>
      <p:sp>
        <p:nvSpPr>
          <p:cNvPr id="46" name="Text 44"/>
          <p:cNvSpPr/>
          <p:nvPr/>
        </p:nvSpPr>
        <p:spPr>
          <a:xfrm>
            <a:off x="8650224" y="4498848"/>
            <a:ext cx="1042416" cy="201168"/>
          </a:xfrm>
          <a:prstGeom prst="rect">
            <a:avLst/>
          </a:prstGeom>
          <a:noFill/>
          <a:ln/>
        </p:spPr>
        <p:txBody>
          <a:bodyPr wrap="square" lIns="0" tIns="0" rIns="0" bIns="0" rtlCol="0" anchor="ctr">
            <a:normAutofit/>
          </a:bodyPr>
          <a:lstStyle/>
          <a:p>
            <a:pPr algn="ctr" indent="0" marL="0">
              <a:buNone/>
            </a:pPr>
            <a:r>
              <a:rPr lang="en-US" sz="880" b="1" dirty="0">
                <a:solidFill>
                  <a:srgbClr val="1E1E1E"/>
                </a:solidFill>
                <a:latin typeface="Segoe UI" pitchFamily="34" charset="0"/>
                <a:ea typeface="Segoe UI" pitchFamily="34" charset="-122"/>
                <a:cs typeface="Segoe UI" pitchFamily="34" charset="-120"/>
              </a:rPr>
              <a:t>Microsoft Entra ID</a:t>
            </a:r>
            <a:endParaRPr lang="en-US" sz="880" dirty="0"/>
          </a:p>
        </p:txBody>
      </p:sp>
      <p:sp>
        <p:nvSpPr>
          <p:cNvPr id="47" name="Text 45"/>
          <p:cNvSpPr/>
          <p:nvPr/>
        </p:nvSpPr>
        <p:spPr>
          <a:xfrm>
            <a:off x="8650224" y="4718304"/>
            <a:ext cx="1042416" cy="182880"/>
          </a:xfrm>
          <a:prstGeom prst="rect">
            <a:avLst/>
          </a:prstGeom>
          <a:noFill/>
          <a:ln/>
        </p:spPr>
        <p:txBody>
          <a:bodyPr wrap="square" lIns="0" tIns="0" rIns="0" bIns="0" rtlCol="0" anchor="ctr">
            <a:normAutofit/>
          </a:bodyPr>
          <a:lstStyle/>
          <a:p>
            <a:pPr algn="ctr" indent="0" marL="0">
              <a:buNone/>
            </a:pPr>
            <a:r>
              <a:rPr lang="en-US" sz="770" dirty="0">
                <a:solidFill>
                  <a:srgbClr val="1E1E1E"/>
                </a:solidFill>
                <a:latin typeface="Segoe UI" pitchFamily="34" charset="0"/>
                <a:ea typeface="Segoe UI" pitchFamily="34" charset="-122"/>
                <a:cs typeface="Segoe UI" pitchFamily="34" charset="-120"/>
              </a:rPr>
              <a:t>MSAL user token</a:t>
            </a:r>
            <a:endParaRPr lang="en-US" sz="770" dirty="0"/>
          </a:p>
        </p:txBody>
      </p:sp>
      <p:sp>
        <p:nvSpPr>
          <p:cNvPr id="48" name="Shape 46"/>
          <p:cNvSpPr/>
          <p:nvPr/>
        </p:nvSpPr>
        <p:spPr>
          <a:xfrm>
            <a:off x="10085832" y="4407408"/>
            <a:ext cx="1280160" cy="566928"/>
          </a:xfrm>
          <a:prstGeom prst="roundRect">
            <a:avLst>
              <a:gd name="adj" fmla="val 8065"/>
            </a:avLst>
          </a:prstGeom>
          <a:solidFill>
            <a:srgbClr val="E8DAEF"/>
          </a:solidFill>
          <a:ln w="15875">
            <a:solidFill>
              <a:srgbClr val="5C2D91"/>
            </a:solidFill>
            <a:prstDash val="solid"/>
          </a:ln>
          <a:effectLst>
            <a:outerShdw sx="100000" sy="100000" kx="0" ky="0" algn="bl" rotWithShape="0" blurRad="19050" dist="8890" dir="2700000">
              <a:srgbClr val="000000">
                <a:alpha val="10000"/>
              </a:srgbClr>
            </a:outerShdw>
          </a:effectLst>
        </p:spPr>
      </p:sp>
      <p:sp>
        <p:nvSpPr>
          <p:cNvPr id="49" name="Text 47"/>
          <p:cNvSpPr/>
          <p:nvPr/>
        </p:nvSpPr>
        <p:spPr>
          <a:xfrm>
            <a:off x="10168128" y="4498848"/>
            <a:ext cx="1115568" cy="201168"/>
          </a:xfrm>
          <a:prstGeom prst="rect">
            <a:avLst/>
          </a:prstGeom>
          <a:noFill/>
          <a:ln/>
        </p:spPr>
        <p:txBody>
          <a:bodyPr wrap="square" lIns="0" tIns="0" rIns="0" bIns="0" rtlCol="0" anchor="ctr">
            <a:normAutofit/>
          </a:bodyPr>
          <a:lstStyle/>
          <a:p>
            <a:pPr algn="ctr" indent="0" marL="0">
              <a:buNone/>
            </a:pPr>
            <a:r>
              <a:rPr lang="en-US" sz="900" b="1" dirty="0">
                <a:solidFill>
                  <a:srgbClr val="1E1E1E"/>
                </a:solidFill>
                <a:latin typeface="Segoe UI" pitchFamily="34" charset="0"/>
                <a:ea typeface="Segoe UI" pitchFamily="34" charset="-122"/>
                <a:cs typeface="Segoe UI" pitchFamily="34" charset="-120"/>
              </a:rPr>
              <a:t>Copilot Studio</a:t>
            </a:r>
            <a:endParaRPr lang="en-US" sz="900" dirty="0"/>
          </a:p>
        </p:txBody>
      </p:sp>
      <p:sp>
        <p:nvSpPr>
          <p:cNvPr id="50" name="Text 48"/>
          <p:cNvSpPr/>
          <p:nvPr/>
        </p:nvSpPr>
        <p:spPr>
          <a:xfrm>
            <a:off x="10168128" y="4718304"/>
            <a:ext cx="1115568" cy="182880"/>
          </a:xfrm>
          <a:prstGeom prst="rect">
            <a:avLst/>
          </a:prstGeom>
          <a:noFill/>
          <a:ln/>
        </p:spPr>
        <p:txBody>
          <a:bodyPr wrap="square" lIns="0" tIns="0" rIns="0" bIns="0" rtlCol="0" anchor="ctr">
            <a:normAutofit/>
          </a:bodyPr>
          <a:lstStyle/>
          <a:p>
            <a:pPr algn="ctr" indent="0" marL="0">
              <a:buNone/>
            </a:pPr>
            <a:r>
              <a:rPr lang="en-US" sz="770" dirty="0">
                <a:solidFill>
                  <a:srgbClr val="1E1E1E"/>
                </a:solidFill>
                <a:latin typeface="Segoe UI" pitchFamily="34" charset="0"/>
                <a:ea typeface="Segoe UI" pitchFamily="34" charset="-122"/>
                <a:cs typeface="Segoe UI" pitchFamily="34" charset="-120"/>
              </a:rPr>
              <a:t>Token exchange + chat</a:t>
            </a:r>
            <a:endParaRPr lang="en-US" sz="770" dirty="0"/>
          </a:p>
        </p:txBody>
      </p:sp>
      <p:sp>
        <p:nvSpPr>
          <p:cNvPr id="51" name="Shape 49"/>
          <p:cNvSpPr/>
          <p:nvPr/>
        </p:nvSpPr>
        <p:spPr>
          <a:xfrm>
            <a:off x="8567928" y="5120640"/>
            <a:ext cx="1207008" cy="384048"/>
          </a:xfrm>
          <a:prstGeom prst="roundRect">
            <a:avLst>
              <a:gd name="adj" fmla="val 11905"/>
            </a:avLst>
          </a:prstGeom>
          <a:solidFill>
            <a:srgbClr val="E8DAEF"/>
          </a:solidFill>
          <a:ln w="15875">
            <a:solidFill>
              <a:srgbClr val="5C2D91"/>
            </a:solidFill>
            <a:prstDash val="solid"/>
          </a:ln>
        </p:spPr>
      </p:sp>
      <p:sp>
        <p:nvSpPr>
          <p:cNvPr id="52" name="Text 50"/>
          <p:cNvSpPr/>
          <p:nvPr/>
        </p:nvSpPr>
        <p:spPr>
          <a:xfrm>
            <a:off x="8650224" y="5212080"/>
            <a:ext cx="1042416" cy="164592"/>
          </a:xfrm>
          <a:prstGeom prst="rect">
            <a:avLst/>
          </a:prstGeom>
          <a:noFill/>
          <a:ln/>
        </p:spPr>
        <p:txBody>
          <a:bodyPr wrap="square" lIns="0" tIns="0" rIns="0" bIns="0" rtlCol="0" anchor="ctr">
            <a:normAutofit/>
          </a:bodyPr>
          <a:lstStyle/>
          <a:p>
            <a:pPr algn="ctr" indent="0" marL="0">
              <a:buNone/>
            </a:pPr>
            <a:r>
              <a:rPr lang="en-US" sz="800" b="1" dirty="0">
                <a:solidFill>
                  <a:srgbClr val="1E1E1E"/>
                </a:solidFill>
                <a:latin typeface="Segoe UI" pitchFamily="34" charset="0"/>
                <a:ea typeface="Segoe UI" pitchFamily="34" charset="-122"/>
                <a:cs typeface="Segoe UI" pitchFamily="34" charset="-120"/>
              </a:rPr>
              <a:t>Web / phone sidecars</a:t>
            </a:r>
            <a:endParaRPr lang="en-US" sz="800" dirty="0"/>
          </a:p>
        </p:txBody>
      </p:sp>
      <p:sp>
        <p:nvSpPr>
          <p:cNvPr id="53" name="Shape 51"/>
          <p:cNvSpPr/>
          <p:nvPr/>
        </p:nvSpPr>
        <p:spPr>
          <a:xfrm>
            <a:off x="10085832" y="5120640"/>
            <a:ext cx="1280160" cy="384048"/>
          </a:xfrm>
          <a:prstGeom prst="roundRect">
            <a:avLst>
              <a:gd name="adj" fmla="val 11905"/>
            </a:avLst>
          </a:prstGeom>
          <a:solidFill>
            <a:srgbClr val="E8DAEF"/>
          </a:solidFill>
          <a:ln w="15875">
            <a:solidFill>
              <a:srgbClr val="5C2D91"/>
            </a:solidFill>
            <a:prstDash val="solid"/>
          </a:ln>
        </p:spPr>
      </p:sp>
      <p:sp>
        <p:nvSpPr>
          <p:cNvPr id="54" name="Text 52"/>
          <p:cNvSpPr/>
          <p:nvPr/>
        </p:nvSpPr>
        <p:spPr>
          <a:xfrm>
            <a:off x="10168128" y="5212080"/>
            <a:ext cx="1115568" cy="164592"/>
          </a:xfrm>
          <a:prstGeom prst="rect">
            <a:avLst/>
          </a:prstGeom>
          <a:noFill/>
          <a:ln/>
        </p:spPr>
        <p:txBody>
          <a:bodyPr wrap="square" lIns="0" tIns="0" rIns="0" bIns="0" rtlCol="0" anchor="ctr">
            <a:normAutofit/>
          </a:bodyPr>
          <a:lstStyle/>
          <a:p>
            <a:pPr algn="ctr" indent="0" marL="0">
              <a:buNone/>
            </a:pPr>
            <a:r>
              <a:rPr lang="en-US" sz="800" b="1" dirty="0">
                <a:solidFill>
                  <a:srgbClr val="1E1E1E"/>
                </a:solidFill>
                <a:latin typeface="Segoe UI" pitchFamily="34" charset="0"/>
                <a:ea typeface="Segoe UI" pitchFamily="34" charset="-122"/>
                <a:cs typeface="Segoe UI" pitchFamily="34" charset="-120"/>
              </a:rPr>
              <a:t>Azure Function + ACS</a:t>
            </a:r>
            <a:endParaRPr lang="en-US" sz="800" dirty="0"/>
          </a:p>
        </p:txBody>
      </p:sp>
      <p:sp>
        <p:nvSpPr>
          <p:cNvPr id="55" name="Shape 53"/>
          <p:cNvSpPr/>
          <p:nvPr/>
        </p:nvSpPr>
        <p:spPr>
          <a:xfrm flipV="1">
            <a:off x="1325880" y="2359152"/>
            <a:ext cx="667512" cy="219456"/>
          </a:xfrm>
          <a:prstGeom prst="line">
            <a:avLst/>
          </a:prstGeom>
          <a:noFill/>
          <a:ln w="19050">
            <a:solidFill>
              <a:srgbClr val="495057"/>
            </a:solidFill>
            <a:prstDash val="solid"/>
            <a:headEnd type="none"/>
            <a:tailEnd type="triangle"/>
          </a:ln>
        </p:spPr>
      </p:sp>
      <p:sp>
        <p:nvSpPr>
          <p:cNvPr id="56" name="Shape 54"/>
          <p:cNvSpPr/>
          <p:nvPr/>
        </p:nvSpPr>
        <p:spPr>
          <a:xfrm>
            <a:off x="2971800" y="2688336"/>
            <a:ext cx="0" cy="466344"/>
          </a:xfrm>
          <a:prstGeom prst="line">
            <a:avLst/>
          </a:prstGeom>
          <a:noFill/>
          <a:ln w="19050">
            <a:solidFill>
              <a:srgbClr val="0078D4"/>
            </a:solidFill>
            <a:prstDash val="solid"/>
            <a:headEnd type="none"/>
            <a:tailEnd type="triangle"/>
          </a:ln>
        </p:spPr>
      </p:sp>
      <p:sp>
        <p:nvSpPr>
          <p:cNvPr id="57" name="Shape 55"/>
          <p:cNvSpPr/>
          <p:nvPr/>
        </p:nvSpPr>
        <p:spPr>
          <a:xfrm>
            <a:off x="2971800" y="3941064"/>
            <a:ext cx="0" cy="576072"/>
          </a:xfrm>
          <a:prstGeom prst="line">
            <a:avLst/>
          </a:prstGeom>
          <a:noFill/>
          <a:ln w="19050">
            <a:solidFill>
              <a:srgbClr val="0078D4"/>
            </a:solidFill>
            <a:prstDash val="solid"/>
            <a:headEnd type="none"/>
            <a:tailEnd type="triangle"/>
          </a:ln>
        </p:spPr>
      </p:sp>
      <p:sp>
        <p:nvSpPr>
          <p:cNvPr id="58" name="Shape 56"/>
          <p:cNvSpPr/>
          <p:nvPr/>
        </p:nvSpPr>
        <p:spPr>
          <a:xfrm>
            <a:off x="3959352" y="4919472"/>
            <a:ext cx="475488" cy="0"/>
          </a:xfrm>
          <a:prstGeom prst="line">
            <a:avLst/>
          </a:prstGeom>
          <a:noFill/>
          <a:ln w="19050">
            <a:solidFill>
              <a:srgbClr val="107C10"/>
            </a:solidFill>
            <a:prstDash val="solid"/>
            <a:headEnd type="none"/>
            <a:tailEnd type="triangle"/>
          </a:ln>
        </p:spPr>
      </p:sp>
      <p:sp>
        <p:nvSpPr>
          <p:cNvPr id="59" name="Shape 57"/>
          <p:cNvSpPr/>
          <p:nvPr/>
        </p:nvSpPr>
        <p:spPr>
          <a:xfrm flipV="1">
            <a:off x="4434840" y="2359152"/>
            <a:ext cx="0" cy="2560320"/>
          </a:xfrm>
          <a:prstGeom prst="line">
            <a:avLst/>
          </a:prstGeom>
          <a:noFill/>
          <a:ln w="19050">
            <a:solidFill>
              <a:srgbClr val="107C10"/>
            </a:solidFill>
            <a:prstDash val="solid"/>
            <a:headEnd type="none"/>
            <a:tailEnd type="triangle"/>
          </a:ln>
        </p:spPr>
      </p:sp>
      <p:sp>
        <p:nvSpPr>
          <p:cNvPr id="60" name="Shape 58"/>
          <p:cNvSpPr/>
          <p:nvPr/>
        </p:nvSpPr>
        <p:spPr>
          <a:xfrm>
            <a:off x="4434840" y="2359152"/>
            <a:ext cx="576072" cy="0"/>
          </a:xfrm>
          <a:prstGeom prst="line">
            <a:avLst/>
          </a:prstGeom>
          <a:noFill/>
          <a:ln w="19050">
            <a:solidFill>
              <a:srgbClr val="107C10"/>
            </a:solidFill>
            <a:prstDash val="solid"/>
            <a:headEnd type="none"/>
            <a:tailEnd type="triangle"/>
          </a:ln>
        </p:spPr>
      </p:sp>
      <p:sp>
        <p:nvSpPr>
          <p:cNvPr id="61" name="Shape 59"/>
          <p:cNvSpPr/>
          <p:nvPr/>
        </p:nvSpPr>
        <p:spPr>
          <a:xfrm>
            <a:off x="6281928" y="2724912"/>
            <a:ext cx="0" cy="457200"/>
          </a:xfrm>
          <a:prstGeom prst="line">
            <a:avLst/>
          </a:prstGeom>
          <a:noFill/>
          <a:ln w="19050">
            <a:solidFill>
              <a:srgbClr val="107C10"/>
            </a:solidFill>
            <a:prstDash val="solid"/>
            <a:headEnd type="none"/>
            <a:tailEnd type="triangle"/>
          </a:ln>
        </p:spPr>
      </p:sp>
      <p:sp>
        <p:nvSpPr>
          <p:cNvPr id="62" name="Shape 60"/>
          <p:cNvSpPr/>
          <p:nvPr/>
        </p:nvSpPr>
        <p:spPr>
          <a:xfrm>
            <a:off x="6281928" y="3986784"/>
            <a:ext cx="0" cy="493776"/>
          </a:xfrm>
          <a:prstGeom prst="line">
            <a:avLst/>
          </a:prstGeom>
          <a:noFill/>
          <a:ln w="19050">
            <a:solidFill>
              <a:srgbClr val="107C10"/>
            </a:solidFill>
            <a:prstDash val="solid"/>
            <a:headEnd type="none"/>
            <a:tailEnd type="triangle"/>
          </a:ln>
        </p:spPr>
      </p:sp>
      <p:sp>
        <p:nvSpPr>
          <p:cNvPr id="63" name="Shape 61"/>
          <p:cNvSpPr/>
          <p:nvPr/>
        </p:nvSpPr>
        <p:spPr>
          <a:xfrm>
            <a:off x="9747504" y="2331720"/>
            <a:ext cx="329184" cy="0"/>
          </a:xfrm>
          <a:prstGeom prst="line">
            <a:avLst/>
          </a:prstGeom>
          <a:noFill/>
          <a:ln w="19050">
            <a:solidFill>
              <a:srgbClr val="F7630C"/>
            </a:solidFill>
            <a:prstDash val="solid"/>
            <a:headEnd type="none"/>
            <a:tailEnd type="triangle"/>
          </a:ln>
        </p:spPr>
      </p:sp>
      <p:sp>
        <p:nvSpPr>
          <p:cNvPr id="64" name="Shape 62"/>
          <p:cNvSpPr/>
          <p:nvPr/>
        </p:nvSpPr>
        <p:spPr>
          <a:xfrm>
            <a:off x="10725912" y="2798064"/>
            <a:ext cx="0" cy="118872"/>
          </a:xfrm>
          <a:prstGeom prst="line">
            <a:avLst/>
          </a:prstGeom>
          <a:noFill/>
          <a:ln w="19050">
            <a:solidFill>
              <a:srgbClr val="F7630C"/>
            </a:solidFill>
            <a:prstDash val="solid"/>
            <a:headEnd type="none"/>
            <a:tailEnd type="triangle"/>
          </a:ln>
        </p:spPr>
      </p:sp>
      <p:sp>
        <p:nvSpPr>
          <p:cNvPr id="65" name="Shape 63"/>
          <p:cNvSpPr/>
          <p:nvPr/>
        </p:nvSpPr>
        <p:spPr>
          <a:xfrm>
            <a:off x="10076688" y="2359152"/>
            <a:ext cx="0" cy="475488"/>
          </a:xfrm>
          <a:prstGeom prst="line">
            <a:avLst/>
          </a:prstGeom>
          <a:noFill/>
          <a:ln w="19050">
            <a:solidFill>
              <a:srgbClr val="F7630C"/>
            </a:solidFill>
            <a:prstDash val="dash"/>
            <a:headEnd type="none"/>
            <a:tailEnd type="none"/>
          </a:ln>
        </p:spPr>
      </p:sp>
      <p:sp>
        <p:nvSpPr>
          <p:cNvPr id="66" name="Shape 64"/>
          <p:cNvSpPr/>
          <p:nvPr/>
        </p:nvSpPr>
        <p:spPr>
          <a:xfrm flipH="1">
            <a:off x="8138160" y="2834640"/>
            <a:ext cx="1938528" cy="0"/>
          </a:xfrm>
          <a:prstGeom prst="line">
            <a:avLst/>
          </a:prstGeom>
          <a:noFill/>
          <a:ln w="19050">
            <a:solidFill>
              <a:srgbClr val="F7630C"/>
            </a:solidFill>
            <a:prstDash val="dash"/>
            <a:headEnd type="none"/>
            <a:tailEnd type="none"/>
          </a:ln>
        </p:spPr>
      </p:sp>
      <p:sp>
        <p:nvSpPr>
          <p:cNvPr id="67" name="Shape 65"/>
          <p:cNvSpPr/>
          <p:nvPr/>
        </p:nvSpPr>
        <p:spPr>
          <a:xfrm flipV="1">
            <a:off x="8138160" y="2359152"/>
            <a:ext cx="0" cy="475488"/>
          </a:xfrm>
          <a:prstGeom prst="line">
            <a:avLst/>
          </a:prstGeom>
          <a:noFill/>
          <a:ln w="19050">
            <a:solidFill>
              <a:srgbClr val="F7630C"/>
            </a:solidFill>
            <a:prstDash val="dash"/>
            <a:headEnd type="none"/>
            <a:tailEnd type="none"/>
          </a:ln>
        </p:spPr>
      </p:sp>
      <p:sp>
        <p:nvSpPr>
          <p:cNvPr id="68" name="Shape 66"/>
          <p:cNvSpPr/>
          <p:nvPr/>
        </p:nvSpPr>
        <p:spPr>
          <a:xfrm flipH="1">
            <a:off x="7552944" y="2359152"/>
            <a:ext cx="585216" cy="0"/>
          </a:xfrm>
          <a:prstGeom prst="line">
            <a:avLst/>
          </a:prstGeom>
          <a:noFill/>
          <a:ln w="19050">
            <a:solidFill>
              <a:srgbClr val="F7630C"/>
            </a:solidFill>
            <a:prstDash val="dash"/>
            <a:headEnd type="none"/>
            <a:tailEnd type="triangle"/>
          </a:ln>
        </p:spPr>
      </p:sp>
      <p:sp>
        <p:nvSpPr>
          <p:cNvPr id="69" name="Text 67"/>
          <p:cNvSpPr/>
          <p:nvPr/>
        </p:nvSpPr>
        <p:spPr>
          <a:xfrm>
            <a:off x="8503920" y="2706624"/>
            <a:ext cx="1051560" cy="155448"/>
          </a:xfrm>
          <a:prstGeom prst="rect">
            <a:avLst/>
          </a:prstGeom>
          <a:noFill/>
          <a:ln/>
        </p:spPr>
        <p:txBody>
          <a:bodyPr wrap="square" lIns="0" tIns="0" rIns="0" bIns="0" rtlCol="0" anchor="ctr">
            <a:normAutofit/>
          </a:bodyPr>
          <a:lstStyle/>
          <a:p>
            <a:pPr algn="ctr" indent="0" marL="0">
              <a:buNone/>
            </a:pPr>
            <a:r>
              <a:rPr lang="en-US" sz="750" i="1" dirty="0">
                <a:solidFill>
                  <a:srgbClr val="F7630C"/>
                </a:solidFill>
                <a:latin typeface="Segoe UI" pitchFamily="34" charset="0"/>
                <a:ea typeface="Segoe UI" pitchFamily="34" charset="-122"/>
                <a:cs typeface="Segoe UI" pitchFamily="34" charset="-120"/>
              </a:rPr>
              <a:t>read at runtime</a:t>
            </a:r>
            <a:endParaRPr lang="en-US" sz="750" dirty="0"/>
          </a:p>
        </p:txBody>
      </p:sp>
      <p:sp>
        <p:nvSpPr>
          <p:cNvPr id="70" name="Shape 68"/>
          <p:cNvSpPr/>
          <p:nvPr/>
        </p:nvSpPr>
        <p:spPr>
          <a:xfrm>
            <a:off x="7552944" y="3575304"/>
            <a:ext cx="493776" cy="0"/>
          </a:xfrm>
          <a:prstGeom prst="line">
            <a:avLst/>
          </a:prstGeom>
          <a:noFill/>
          <a:ln w="19050">
            <a:solidFill>
              <a:srgbClr val="5C2D91"/>
            </a:solidFill>
            <a:prstDash val="dash"/>
            <a:headEnd type="none"/>
            <a:tailEnd type="triangle"/>
          </a:ln>
        </p:spPr>
      </p:sp>
      <p:sp>
        <p:nvSpPr>
          <p:cNvPr id="71" name="Shape 69"/>
          <p:cNvSpPr/>
          <p:nvPr/>
        </p:nvSpPr>
        <p:spPr>
          <a:xfrm>
            <a:off x="8046720" y="3575304"/>
            <a:ext cx="0" cy="1115568"/>
          </a:xfrm>
          <a:prstGeom prst="line">
            <a:avLst/>
          </a:prstGeom>
          <a:noFill/>
          <a:ln w="19050">
            <a:solidFill>
              <a:srgbClr val="5C2D91"/>
            </a:solidFill>
            <a:prstDash val="dash"/>
            <a:headEnd type="none"/>
            <a:tailEnd type="triangle"/>
          </a:ln>
        </p:spPr>
      </p:sp>
      <p:sp>
        <p:nvSpPr>
          <p:cNvPr id="72" name="Shape 70"/>
          <p:cNvSpPr/>
          <p:nvPr/>
        </p:nvSpPr>
        <p:spPr>
          <a:xfrm>
            <a:off x="8046720" y="4690872"/>
            <a:ext cx="521208" cy="0"/>
          </a:xfrm>
          <a:prstGeom prst="line">
            <a:avLst/>
          </a:prstGeom>
          <a:noFill/>
          <a:ln w="19050">
            <a:solidFill>
              <a:srgbClr val="5C2D91"/>
            </a:solidFill>
            <a:prstDash val="dash"/>
            <a:headEnd type="none"/>
            <a:tailEnd type="triangle"/>
          </a:ln>
        </p:spPr>
      </p:sp>
      <p:sp>
        <p:nvSpPr>
          <p:cNvPr id="73" name="Shape 71"/>
          <p:cNvSpPr/>
          <p:nvPr/>
        </p:nvSpPr>
        <p:spPr>
          <a:xfrm>
            <a:off x="9774936" y="4690872"/>
            <a:ext cx="310896" cy="0"/>
          </a:xfrm>
          <a:prstGeom prst="line">
            <a:avLst/>
          </a:prstGeom>
          <a:noFill/>
          <a:ln w="19050">
            <a:solidFill>
              <a:srgbClr val="5C2D91"/>
            </a:solidFill>
            <a:prstDash val="solid"/>
            <a:headEnd type="none"/>
            <a:tailEnd type="triangle"/>
          </a:ln>
        </p:spPr>
      </p:sp>
      <p:sp>
        <p:nvSpPr>
          <p:cNvPr id="74" name="Shape 72"/>
          <p:cNvSpPr/>
          <p:nvPr/>
        </p:nvSpPr>
        <p:spPr>
          <a:xfrm>
            <a:off x="7552944" y="4956048"/>
            <a:ext cx="493776" cy="0"/>
          </a:xfrm>
          <a:prstGeom prst="line">
            <a:avLst/>
          </a:prstGeom>
          <a:noFill/>
          <a:ln w="19050">
            <a:solidFill>
              <a:srgbClr val="5C2D91"/>
            </a:solidFill>
            <a:prstDash val="dash"/>
            <a:headEnd type="none"/>
            <a:tailEnd type="triangle"/>
          </a:ln>
        </p:spPr>
      </p:sp>
      <p:sp>
        <p:nvSpPr>
          <p:cNvPr id="75" name="Shape 73"/>
          <p:cNvSpPr/>
          <p:nvPr/>
        </p:nvSpPr>
        <p:spPr>
          <a:xfrm>
            <a:off x="8046720" y="4956048"/>
            <a:ext cx="0" cy="356616"/>
          </a:xfrm>
          <a:prstGeom prst="line">
            <a:avLst/>
          </a:prstGeom>
          <a:noFill/>
          <a:ln w="19050">
            <a:solidFill>
              <a:srgbClr val="5C2D91"/>
            </a:solidFill>
            <a:prstDash val="dash"/>
            <a:headEnd type="none"/>
            <a:tailEnd type="triangle"/>
          </a:ln>
        </p:spPr>
      </p:sp>
      <p:sp>
        <p:nvSpPr>
          <p:cNvPr id="76" name="Shape 74"/>
          <p:cNvSpPr/>
          <p:nvPr/>
        </p:nvSpPr>
        <p:spPr>
          <a:xfrm>
            <a:off x="8046720" y="5312664"/>
            <a:ext cx="521208" cy="0"/>
          </a:xfrm>
          <a:prstGeom prst="line">
            <a:avLst/>
          </a:prstGeom>
          <a:noFill/>
          <a:ln w="19050">
            <a:solidFill>
              <a:srgbClr val="5C2D91"/>
            </a:solidFill>
            <a:prstDash val="dash"/>
            <a:headEnd type="none"/>
            <a:tailEnd type="triangle"/>
          </a:ln>
        </p:spPr>
      </p:sp>
      <p:sp>
        <p:nvSpPr>
          <p:cNvPr id="77" name="Shape 75"/>
          <p:cNvSpPr/>
          <p:nvPr/>
        </p:nvSpPr>
        <p:spPr>
          <a:xfrm>
            <a:off x="9774936" y="5312664"/>
            <a:ext cx="310896" cy="0"/>
          </a:xfrm>
          <a:prstGeom prst="line">
            <a:avLst/>
          </a:prstGeom>
          <a:noFill/>
          <a:ln w="19050">
            <a:solidFill>
              <a:srgbClr val="5C2D91"/>
            </a:solidFill>
            <a:prstDash val="solid"/>
            <a:headEnd type="none"/>
            <a:tailEnd type="triangle"/>
          </a:ln>
        </p:spPr>
      </p:sp>
      <p:sp>
        <p:nvSpPr>
          <p:cNvPr id="78" name="Shape 76"/>
          <p:cNvSpPr/>
          <p:nvPr/>
        </p:nvSpPr>
        <p:spPr>
          <a:xfrm>
            <a:off x="457200" y="6053328"/>
            <a:ext cx="11274552" cy="0"/>
          </a:xfrm>
          <a:prstGeom prst="line">
            <a:avLst/>
          </a:prstGeom>
          <a:noFill/>
          <a:ln w="10160">
            <a:solidFill>
              <a:srgbClr val="D2D0CE"/>
            </a:solidFill>
            <a:prstDash val="solid"/>
          </a:ln>
        </p:spPr>
      </p:sp>
      <p:sp>
        <p:nvSpPr>
          <p:cNvPr id="79" name="Text 77"/>
          <p:cNvSpPr/>
          <p:nvPr/>
        </p:nvSpPr>
        <p:spPr>
          <a:xfrm>
            <a:off x="457200" y="6190488"/>
            <a:ext cx="11274552" cy="182880"/>
          </a:xfrm>
          <a:prstGeom prst="rect">
            <a:avLst/>
          </a:prstGeom>
          <a:noFill/>
          <a:ln/>
        </p:spPr>
        <p:txBody>
          <a:bodyPr wrap="square" lIns="0" tIns="0" rIns="0" bIns="0" rtlCol="0" anchor="ctr">
            <a:normAutofit/>
          </a:bodyPr>
          <a:lstStyle/>
          <a:p>
            <a:pPr indent="0" marL="0">
              <a:buNone/>
            </a:pPr>
            <a:r>
              <a:rPr lang="en-US" sz="850" b="1" dirty="0">
                <a:solidFill>
                  <a:srgbClr val="107C10"/>
                </a:solidFill>
                <a:latin typeface="Segoe UI" pitchFamily="34" charset="0"/>
                <a:ea typeface="Segoe UI" pitchFamily="34" charset="-122"/>
                <a:cs typeface="Segoe UI" pitchFamily="34" charset="-120"/>
              </a:rPr>
              <a:t>FLOW  </a:t>
            </a:r>
            <a:pPr indent="0" marL="0">
              <a:buNone/>
            </a:pPr>
            <a:r>
              <a:rPr lang="en-US" sz="850" dirty="0">
                <a:solidFill>
                  <a:srgbClr val="1E1E1E"/>
                </a:solidFill>
                <a:latin typeface="Segoe UI" pitchFamily="34" charset="0"/>
                <a:ea typeface="Segoe UI" pitchFamily="34" charset="-122"/>
                <a:cs typeface="Segoe UI" pitchFamily="34" charset="-120"/>
              </a:rPr>
              <a:t>User opens record -&gt; form launches pane -&gt; runtime reads Dataverse -&gt; policy selects route -&gt; configured experience renders</a:t>
            </a:r>
            <a:endParaRPr lang="en-US" sz="850" dirty="0"/>
          </a:p>
        </p:txBody>
      </p:sp>
      <p:sp>
        <p:nvSpPr>
          <p:cNvPr id="80" name="Text 78"/>
          <p:cNvSpPr/>
          <p:nvPr/>
        </p:nvSpPr>
        <p:spPr>
          <a:xfrm>
            <a:off x="457200" y="6437376"/>
            <a:ext cx="11274552" cy="182880"/>
          </a:xfrm>
          <a:prstGeom prst="rect">
            <a:avLst/>
          </a:prstGeom>
          <a:noFill/>
          <a:ln/>
        </p:spPr>
        <p:txBody>
          <a:bodyPr wrap="square" lIns="0" tIns="0" rIns="0" bIns="0" rtlCol="0" anchor="ctr">
            <a:normAutofit/>
          </a:bodyPr>
          <a:lstStyle/>
          <a:p>
            <a:pPr indent="0" marL="0">
              <a:buNone/>
            </a:pPr>
            <a:r>
              <a:rPr lang="en-US" sz="850" b="1" dirty="0">
                <a:solidFill>
                  <a:srgbClr val="D13438"/>
                </a:solidFill>
                <a:latin typeface="Segoe UI" pitchFamily="34" charset="0"/>
                <a:ea typeface="Segoe UI" pitchFamily="34" charset="-122"/>
                <a:cs typeface="Segoe UI" pitchFamily="34" charset="-120"/>
              </a:rPr>
              <a:t>SECURITY BOUNDARY  </a:t>
            </a:r>
            <a:pPr indent="0" marL="0">
              <a:buNone/>
            </a:pPr>
            <a:r>
              <a:rPr lang="en-US" sz="850" dirty="0">
                <a:solidFill>
                  <a:srgbClr val="1E1E1E"/>
                </a:solidFill>
                <a:latin typeface="Segoe UI" pitchFamily="34" charset="0"/>
                <a:ea typeface="Segoe UI" pitchFamily="34" charset="-122"/>
                <a:cs typeface="Segoe UI" pitchFamily="34" charset="-120"/>
              </a:rPr>
              <a:t>Validate configured URLs/HTML, grant least-privilege iframe capabilities, and fail closed when an enabled identity route fails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Generic Sidebar - Reusable Reference Architecture</dc:title>
  <dc:subject>Reusable reference architecture for Generic Sidebar</dc:subject>
  <dc:creator>Generic Sidebar Team</dc:creator>
  <cp:lastModifiedBy>Generic Sidebar Team</cp:lastModifiedBy>
  <cp:revision>1</cp:revision>
  <dcterms:created xsi:type="dcterms:W3CDTF">2026-08-18T19:36:34Z</dcterms:created>
  <dcterms:modified xsi:type="dcterms:W3CDTF">2026-08-18T19:36:34Z</dcterms:modified>
</cp:coreProperties>
</file>